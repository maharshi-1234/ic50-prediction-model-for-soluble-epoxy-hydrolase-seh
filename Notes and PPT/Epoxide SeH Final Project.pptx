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6" r:id="rId7"/>
    <p:sldId id="261" r:id="rId8"/>
    <p:sldId id="262" r:id="rId9"/>
    <p:sldId id="263" r:id="rId10"/>
    <p:sldId id="267" r:id="rId11"/>
    <p:sldId id="269" r:id="rId12"/>
    <p:sldId id="264" r:id="rId13"/>
    <p:sldId id="265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68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87" d="100"/>
          <a:sy n="87" d="100"/>
        </p:scale>
        <p:origin x="9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Compounds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4-5</c:v>
                </c:pt>
                <c:pt idx="1">
                  <c:v>5-6</c:v>
                </c:pt>
                <c:pt idx="2">
                  <c:v>6-7</c:v>
                </c:pt>
                <c:pt idx="3">
                  <c:v>7-8</c:v>
                </c:pt>
                <c:pt idx="4">
                  <c:v>8-9</c:v>
                </c:pt>
                <c:pt idx="5">
                  <c:v>9-10</c:v>
                </c:pt>
                <c:pt idx="6">
                  <c:v>&gt;10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82</c:v>
                </c:pt>
                <c:pt idx="1">
                  <c:v>125</c:v>
                </c:pt>
                <c:pt idx="2">
                  <c:v>458</c:v>
                </c:pt>
                <c:pt idx="3">
                  <c:v>1068</c:v>
                </c:pt>
                <c:pt idx="4">
                  <c:v>542</c:v>
                </c:pt>
                <c:pt idx="5">
                  <c:v>215</c:v>
                </c:pt>
                <c:pt idx="6">
                  <c:v>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C7-489D-BFCE-5718A4A183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pIC50 Range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Number of Compounds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Value</c:v>
                </c:pt>
              </c:strCache>
            </c:strRef>
          </c:tx>
          <c:spPr>
            <a:solidFill>
              <a:srgbClr val="1565C0"/>
            </a:solidFill>
            <a:effectLst/>
          </c:spPr>
          <c:invertIfNegative val="0"/>
          <c:cat>
            <c:strRef>
              <c:f>Sheet1!$A$2:$A$11</c:f>
              <c:strCache>
                <c:ptCount val="10"/>
                <c:pt idx="0">
                  <c:v>LogP</c:v>
                </c:pt>
                <c:pt idx="1">
                  <c:v>MW</c:v>
                </c:pt>
                <c:pt idx="2">
                  <c:v>HBA</c:v>
                </c:pt>
                <c:pt idx="3">
                  <c:v>Arom</c:v>
                </c:pt>
                <c:pt idx="4">
                  <c:v>TPSA</c:v>
                </c:pt>
                <c:pt idx="5">
                  <c:v>HBD</c:v>
                </c:pt>
                <c:pt idx="6">
                  <c:v>Rot</c:v>
                </c:pt>
                <c:pt idx="7">
                  <c:v>Rings</c:v>
                </c:pt>
                <c:pt idx="8">
                  <c:v>CSP3</c:v>
                </c:pt>
                <c:pt idx="9">
                  <c:v>Het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0.45</c:v>
                </c:pt>
                <c:pt idx="1">
                  <c:v>0.38</c:v>
                </c:pt>
                <c:pt idx="2">
                  <c:v>0.32</c:v>
                </c:pt>
                <c:pt idx="3">
                  <c:v>0.28000000000000003</c:v>
                </c:pt>
                <c:pt idx="4">
                  <c:v>0.25</c:v>
                </c:pt>
                <c:pt idx="5">
                  <c:v>0.22</c:v>
                </c:pt>
                <c:pt idx="6">
                  <c:v>0.19</c:v>
                </c:pt>
                <c:pt idx="7">
                  <c:v>0.16</c:v>
                </c:pt>
                <c:pt idx="8">
                  <c:v>0.14000000000000001</c:v>
                </c:pt>
                <c:pt idx="9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2F-43B6-B6D0-C2E9912DF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Mean |SHAP Value|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Feature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E5FDB2F-0702-484D-B70A-ADED2DF69D82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4A448C8-7DAD-4EFC-B8C5-CA58A44681F0}">
      <dgm:prSet custT="1"/>
      <dgm:spPr/>
      <dgm:t>
        <a:bodyPr/>
        <a:lstStyle/>
        <a:p>
          <a:pPr algn="ctr"/>
          <a:r>
            <a:rPr lang="en-US" sz="1400" b="1" dirty="0"/>
            <a:t>Dataset Collection</a:t>
          </a:r>
          <a:br>
            <a:rPr lang="en-US" sz="1200" dirty="0"/>
          </a:br>
          <a:r>
            <a:rPr lang="en-US" sz="1200" dirty="0"/>
            <a:t>Collected ~2,500 </a:t>
          </a:r>
          <a:r>
            <a:rPr lang="en-US" sz="1200" dirty="0" err="1"/>
            <a:t>sEH</a:t>
          </a:r>
          <a:r>
            <a:rPr lang="en-US" sz="1200" dirty="0"/>
            <a:t> inhibitor compounds with IC₅₀ data from the </a:t>
          </a:r>
          <a:r>
            <a:rPr lang="en-US" sz="1200" dirty="0" err="1"/>
            <a:t>ChEMBL</a:t>
          </a:r>
          <a:r>
            <a:rPr lang="en-US" sz="1200" dirty="0"/>
            <a:t> database.</a:t>
          </a:r>
        </a:p>
      </dgm:t>
    </dgm:pt>
    <dgm:pt modelId="{859B60B7-871F-404B-808D-AAF0BF2424B1}" type="parTrans" cxnId="{986D3DA9-3224-41A2-AD28-1455AB40E8AE}">
      <dgm:prSet/>
      <dgm:spPr/>
      <dgm:t>
        <a:bodyPr/>
        <a:lstStyle/>
        <a:p>
          <a:endParaRPr lang="en-US"/>
        </a:p>
      </dgm:t>
    </dgm:pt>
    <dgm:pt modelId="{FEB58209-39AF-461C-AEC0-935DC6820218}" type="sibTrans" cxnId="{986D3DA9-3224-41A2-AD28-1455AB40E8AE}">
      <dgm:prSet/>
      <dgm:spPr/>
      <dgm:t>
        <a:bodyPr/>
        <a:lstStyle/>
        <a:p>
          <a:endParaRPr lang="en-US"/>
        </a:p>
      </dgm:t>
    </dgm:pt>
    <dgm:pt modelId="{9C2E7C71-FC97-47E0-9ACD-2C02EFAF5EA5}">
      <dgm:prSet custT="1"/>
      <dgm:spPr/>
      <dgm:t>
        <a:bodyPr/>
        <a:lstStyle/>
        <a:p>
          <a:r>
            <a:rPr lang="en-US" sz="1200" b="1" dirty="0"/>
            <a:t>Data Preprocessing</a:t>
          </a:r>
        </a:p>
        <a:p>
          <a:r>
            <a:rPr lang="en-US" sz="1050" dirty="0"/>
            <a:t>Cleaned the dataset and converted IC₅₀ values to </a:t>
          </a:r>
          <a:r>
            <a:rPr lang="en-US" sz="1050" dirty="0" err="1"/>
            <a:t>pIC</a:t>
          </a:r>
          <a:r>
            <a:rPr lang="en-US" sz="1050" dirty="0"/>
            <a:t>₅₀ for machine learning modeling</a:t>
          </a:r>
          <a:r>
            <a:rPr lang="en-US" sz="1000" dirty="0"/>
            <a:t>.</a:t>
          </a:r>
          <a:endParaRPr lang="en-US" sz="1200" dirty="0"/>
        </a:p>
      </dgm:t>
    </dgm:pt>
    <dgm:pt modelId="{3BDFC8E1-878C-431D-B27C-0878566A74D2}" type="parTrans" cxnId="{75A74E60-8FB3-42AC-962F-28738F5AE1A9}">
      <dgm:prSet/>
      <dgm:spPr/>
      <dgm:t>
        <a:bodyPr/>
        <a:lstStyle/>
        <a:p>
          <a:endParaRPr lang="en-US"/>
        </a:p>
      </dgm:t>
    </dgm:pt>
    <dgm:pt modelId="{5E0A50CA-DA74-4139-ACC0-FE88EAEAB603}" type="sibTrans" cxnId="{75A74E60-8FB3-42AC-962F-28738F5AE1A9}">
      <dgm:prSet/>
      <dgm:spPr/>
      <dgm:t>
        <a:bodyPr/>
        <a:lstStyle/>
        <a:p>
          <a:endParaRPr lang="en-US"/>
        </a:p>
      </dgm:t>
    </dgm:pt>
    <dgm:pt modelId="{BB5DD14B-C30F-45CE-A29B-55659F0EEC9D}">
      <dgm:prSet custT="1"/>
      <dgm:spPr/>
      <dgm:t>
        <a:bodyPr/>
        <a:lstStyle/>
        <a:p>
          <a:r>
            <a:rPr lang="en-US" sz="1400" b="1" dirty="0"/>
            <a:t>Descriptor Generation</a:t>
          </a:r>
          <a:br>
            <a:rPr lang="en-US" sz="1200" dirty="0"/>
          </a:br>
          <a:r>
            <a:rPr lang="en-US" sz="1200" dirty="0"/>
            <a:t>Generated ~2200 molecular descriptors and fingerprints using </a:t>
          </a:r>
          <a:r>
            <a:rPr lang="en-US" sz="1200" dirty="0" err="1"/>
            <a:t>RDKit</a:t>
          </a:r>
          <a:r>
            <a:rPr lang="en-US" sz="1200" dirty="0"/>
            <a:t>.</a:t>
          </a:r>
        </a:p>
      </dgm:t>
    </dgm:pt>
    <dgm:pt modelId="{0350636C-974C-4593-BFB9-6282461B0EAD}" type="parTrans" cxnId="{5B6B543A-D6D6-4E4E-9B96-36EB22C7B8CD}">
      <dgm:prSet/>
      <dgm:spPr/>
      <dgm:t>
        <a:bodyPr/>
        <a:lstStyle/>
        <a:p>
          <a:endParaRPr lang="en-US"/>
        </a:p>
      </dgm:t>
    </dgm:pt>
    <dgm:pt modelId="{5205C7C4-4F4D-457F-A28C-6DA3776F366C}" type="sibTrans" cxnId="{5B6B543A-D6D6-4E4E-9B96-36EB22C7B8CD}">
      <dgm:prSet/>
      <dgm:spPr/>
      <dgm:t>
        <a:bodyPr/>
        <a:lstStyle/>
        <a:p>
          <a:endParaRPr lang="en-US"/>
        </a:p>
      </dgm:t>
    </dgm:pt>
    <dgm:pt modelId="{F7E47E99-5C8A-4D65-A29C-B81954BE8FC2}">
      <dgm:prSet custT="1"/>
      <dgm:spPr/>
      <dgm:t>
        <a:bodyPr/>
        <a:lstStyle/>
        <a:p>
          <a:r>
            <a:rPr lang="en-US" sz="1200" b="1" dirty="0"/>
            <a:t>QSAR Model Development</a:t>
          </a:r>
        </a:p>
        <a:p>
          <a:r>
            <a:rPr lang="en-US" sz="1100" dirty="0"/>
            <a:t>Trained multiple machine learning models to predict inhibitor potency.</a:t>
          </a:r>
        </a:p>
      </dgm:t>
    </dgm:pt>
    <dgm:pt modelId="{9A036137-9DF0-4B80-9990-0F0B7A47BDF3}" type="parTrans" cxnId="{BD8AD149-6906-4268-99F4-BF894112A76D}">
      <dgm:prSet/>
      <dgm:spPr/>
      <dgm:t>
        <a:bodyPr/>
        <a:lstStyle/>
        <a:p>
          <a:endParaRPr lang="en-US"/>
        </a:p>
      </dgm:t>
    </dgm:pt>
    <dgm:pt modelId="{5F84A974-3B3F-49D5-B936-02AB1A38915A}" type="sibTrans" cxnId="{BD8AD149-6906-4268-99F4-BF894112A76D}">
      <dgm:prSet/>
      <dgm:spPr/>
      <dgm:t>
        <a:bodyPr/>
        <a:lstStyle/>
        <a:p>
          <a:endParaRPr lang="en-US"/>
        </a:p>
      </dgm:t>
    </dgm:pt>
    <dgm:pt modelId="{3A2BED40-A8F5-464B-AFDE-2F674DDFD022}">
      <dgm:prSet custT="1"/>
      <dgm:spPr/>
      <dgm:t>
        <a:bodyPr/>
        <a:lstStyle/>
        <a:p>
          <a:r>
            <a:rPr lang="en-US" sz="1400" b="1" dirty="0"/>
            <a:t>Virtual Screening</a:t>
          </a:r>
          <a:br>
            <a:rPr lang="en-US" sz="1200" dirty="0"/>
          </a:br>
          <a:r>
            <a:rPr lang="en-US" sz="1100" dirty="0"/>
            <a:t>Screened compound libraries using the trained QSAR model to predict bioactivity.</a:t>
          </a:r>
          <a:endParaRPr lang="en-US" sz="1200" dirty="0"/>
        </a:p>
      </dgm:t>
    </dgm:pt>
    <dgm:pt modelId="{9228E90C-317E-49BF-A36B-AD7EA715FEC9}" type="parTrans" cxnId="{27D57AEF-AEBE-44CF-8623-F3B80199B4A8}">
      <dgm:prSet/>
      <dgm:spPr/>
      <dgm:t>
        <a:bodyPr/>
        <a:lstStyle/>
        <a:p>
          <a:endParaRPr lang="en-US"/>
        </a:p>
      </dgm:t>
    </dgm:pt>
    <dgm:pt modelId="{3F6668E1-1D35-45AF-B2B3-9C2AD644615A}" type="sibTrans" cxnId="{27D57AEF-AEBE-44CF-8623-F3B80199B4A8}">
      <dgm:prSet/>
      <dgm:spPr/>
      <dgm:t>
        <a:bodyPr/>
        <a:lstStyle/>
        <a:p>
          <a:endParaRPr lang="en-US"/>
        </a:p>
      </dgm:t>
    </dgm:pt>
    <dgm:pt modelId="{219A3725-7A42-4884-A6E6-AB5221BBC202}">
      <dgm:prSet custT="1"/>
      <dgm:spPr/>
      <dgm:t>
        <a:bodyPr/>
        <a:lstStyle/>
        <a:p>
          <a:r>
            <a:rPr lang="en-US" sz="1100" b="1" dirty="0"/>
            <a:t>Docking &amp; ADMET Filtering</a:t>
          </a:r>
        </a:p>
        <a:p>
          <a:r>
            <a:rPr lang="en-US" sz="1050" b="1" dirty="0"/>
            <a:t> </a:t>
          </a:r>
          <a:r>
            <a:rPr lang="en-US" sz="1050" dirty="0"/>
            <a:t>Performed molecular docking and applied drug-likeness filters to shortlist promising compounds.</a:t>
          </a:r>
        </a:p>
      </dgm:t>
    </dgm:pt>
    <dgm:pt modelId="{CF97A001-E99A-4FD4-898D-040E6BA3B017}" type="parTrans" cxnId="{A289C9AD-4359-43E1-A2A3-8E21C5CCA71E}">
      <dgm:prSet/>
      <dgm:spPr/>
      <dgm:t>
        <a:bodyPr/>
        <a:lstStyle/>
        <a:p>
          <a:endParaRPr lang="en-US"/>
        </a:p>
      </dgm:t>
    </dgm:pt>
    <dgm:pt modelId="{FD7CE44A-5A47-4B22-AC91-A2138B3DCF62}" type="sibTrans" cxnId="{A289C9AD-4359-43E1-A2A3-8E21C5CCA71E}">
      <dgm:prSet/>
      <dgm:spPr/>
      <dgm:t>
        <a:bodyPr/>
        <a:lstStyle/>
        <a:p>
          <a:endParaRPr lang="en-US"/>
        </a:p>
      </dgm:t>
    </dgm:pt>
    <dgm:pt modelId="{F5EBE1CD-ED6A-4D05-96A0-37943BEA7BA1}">
      <dgm:prSet custT="1"/>
      <dgm:spPr/>
      <dgm:t>
        <a:bodyPr/>
        <a:lstStyle/>
        <a:p>
          <a:r>
            <a:rPr lang="en-US" sz="1400" b="1" dirty="0"/>
            <a:t>MD Simulation Preparation</a:t>
          </a:r>
          <a:endParaRPr lang="en-US" sz="1100" dirty="0"/>
        </a:p>
        <a:p>
          <a:r>
            <a:rPr lang="en-US" sz="1100" dirty="0"/>
            <a:t>Selected top candidate inhibitors and prepared them for molecular dynamics simulations.</a:t>
          </a:r>
          <a:endParaRPr lang="en-US" sz="1200" dirty="0"/>
        </a:p>
      </dgm:t>
    </dgm:pt>
    <dgm:pt modelId="{BCC9DE6E-6E9D-4DD6-B3E4-1B7D3A9DF258}" type="parTrans" cxnId="{32C2408F-2A6F-43CA-BD64-ECAE63E55D87}">
      <dgm:prSet/>
      <dgm:spPr/>
      <dgm:t>
        <a:bodyPr/>
        <a:lstStyle/>
        <a:p>
          <a:endParaRPr lang="en-US"/>
        </a:p>
      </dgm:t>
    </dgm:pt>
    <dgm:pt modelId="{E28F0DC0-6F86-4183-95B6-AFB61D40B44B}" type="sibTrans" cxnId="{32C2408F-2A6F-43CA-BD64-ECAE63E55D87}">
      <dgm:prSet/>
      <dgm:spPr/>
      <dgm:t>
        <a:bodyPr/>
        <a:lstStyle/>
        <a:p>
          <a:endParaRPr lang="en-US"/>
        </a:p>
      </dgm:t>
    </dgm:pt>
    <dgm:pt modelId="{107CEF5A-C794-4C69-BAEC-ACF7FCF05036}" type="pres">
      <dgm:prSet presAssocID="{CE5FDB2F-0702-484D-B70A-ADED2DF69D82}" presName="Name0" presStyleCnt="0">
        <dgm:presLayoutVars>
          <dgm:dir/>
          <dgm:resizeHandles val="exact"/>
        </dgm:presLayoutVars>
      </dgm:prSet>
      <dgm:spPr/>
    </dgm:pt>
    <dgm:pt modelId="{3A360E0B-BF89-45D9-B58C-D2B8E540A10C}" type="pres">
      <dgm:prSet presAssocID="{CE5FDB2F-0702-484D-B70A-ADED2DF69D82}" presName="arrow" presStyleLbl="bgShp" presStyleIdx="0" presStyleCnt="1" custScaleX="88063" custScaleY="84894" custLinFactNeighborX="-3711" custLinFactNeighborY="0"/>
      <dgm:spPr/>
    </dgm:pt>
    <dgm:pt modelId="{538F9C49-B7EA-4742-9F30-ECC5640C5103}" type="pres">
      <dgm:prSet presAssocID="{CE5FDB2F-0702-484D-B70A-ADED2DF69D82}" presName="points" presStyleCnt="0"/>
      <dgm:spPr/>
    </dgm:pt>
    <dgm:pt modelId="{62E79B9E-DC1F-4B57-BA91-93FE1E37B53C}" type="pres">
      <dgm:prSet presAssocID="{C4A448C8-7DAD-4EFC-B8C5-CA58A44681F0}" presName="compositeA" presStyleCnt="0"/>
      <dgm:spPr/>
    </dgm:pt>
    <dgm:pt modelId="{93667BFE-D9A8-4C33-A1B8-22A2EF49BEB3}" type="pres">
      <dgm:prSet presAssocID="{C4A448C8-7DAD-4EFC-B8C5-CA58A44681F0}" presName="textA" presStyleLbl="revTx" presStyleIdx="0" presStyleCnt="7" custLinFactNeighborX="-62">
        <dgm:presLayoutVars>
          <dgm:bulletEnabled val="1"/>
        </dgm:presLayoutVars>
      </dgm:prSet>
      <dgm:spPr/>
    </dgm:pt>
    <dgm:pt modelId="{E5EDF95D-D7B8-4BFC-B3BA-CA10E3FED13D}" type="pres">
      <dgm:prSet presAssocID="{C4A448C8-7DAD-4EFC-B8C5-CA58A44681F0}" presName="circleA" presStyleLbl="node1" presStyleIdx="0" presStyleCnt="7"/>
      <dgm:spPr/>
    </dgm:pt>
    <dgm:pt modelId="{CCA835C7-1591-40FA-B3DF-BD29A15A58EC}" type="pres">
      <dgm:prSet presAssocID="{C4A448C8-7DAD-4EFC-B8C5-CA58A44681F0}" presName="spaceA" presStyleCnt="0"/>
      <dgm:spPr/>
    </dgm:pt>
    <dgm:pt modelId="{188E9461-D0CC-48EF-A00E-43222B32CA44}" type="pres">
      <dgm:prSet presAssocID="{FEB58209-39AF-461C-AEC0-935DC6820218}" presName="space" presStyleCnt="0"/>
      <dgm:spPr/>
    </dgm:pt>
    <dgm:pt modelId="{77F458A9-B27A-4EFD-B997-BB9C51CE737D}" type="pres">
      <dgm:prSet presAssocID="{9C2E7C71-FC97-47E0-9ACD-2C02EFAF5EA5}" presName="compositeB" presStyleCnt="0"/>
      <dgm:spPr/>
    </dgm:pt>
    <dgm:pt modelId="{445483A6-1C05-4A9B-8FE4-B557E465CFBE}" type="pres">
      <dgm:prSet presAssocID="{9C2E7C71-FC97-47E0-9ACD-2C02EFAF5EA5}" presName="textB" presStyleLbl="revTx" presStyleIdx="1" presStyleCnt="7">
        <dgm:presLayoutVars>
          <dgm:bulletEnabled val="1"/>
        </dgm:presLayoutVars>
      </dgm:prSet>
      <dgm:spPr/>
    </dgm:pt>
    <dgm:pt modelId="{95657D64-0E46-4C3B-99FE-855DF4BE4155}" type="pres">
      <dgm:prSet presAssocID="{9C2E7C71-FC97-47E0-9ACD-2C02EFAF5EA5}" presName="circleB" presStyleLbl="node1" presStyleIdx="1" presStyleCnt="7"/>
      <dgm:spPr/>
    </dgm:pt>
    <dgm:pt modelId="{FB3E7764-7A66-4F8C-A353-2F76A4A9C3CC}" type="pres">
      <dgm:prSet presAssocID="{9C2E7C71-FC97-47E0-9ACD-2C02EFAF5EA5}" presName="spaceB" presStyleCnt="0"/>
      <dgm:spPr/>
    </dgm:pt>
    <dgm:pt modelId="{FE67D8B8-51A4-465E-95F8-C2D4D9C18AB4}" type="pres">
      <dgm:prSet presAssocID="{5E0A50CA-DA74-4139-ACC0-FE88EAEAB603}" presName="space" presStyleCnt="0"/>
      <dgm:spPr/>
    </dgm:pt>
    <dgm:pt modelId="{57A65F6D-7F86-47E7-81EC-59E6ED20F21F}" type="pres">
      <dgm:prSet presAssocID="{BB5DD14B-C30F-45CE-A29B-55659F0EEC9D}" presName="compositeA" presStyleCnt="0"/>
      <dgm:spPr/>
    </dgm:pt>
    <dgm:pt modelId="{64A0409C-B51A-4CC3-93FF-E89E102FBC8B}" type="pres">
      <dgm:prSet presAssocID="{BB5DD14B-C30F-45CE-A29B-55659F0EEC9D}" presName="textA" presStyleLbl="revTx" presStyleIdx="2" presStyleCnt="7">
        <dgm:presLayoutVars>
          <dgm:bulletEnabled val="1"/>
        </dgm:presLayoutVars>
      </dgm:prSet>
      <dgm:spPr/>
    </dgm:pt>
    <dgm:pt modelId="{ED341C0F-99B2-45EA-B7C8-63559ACBAC76}" type="pres">
      <dgm:prSet presAssocID="{BB5DD14B-C30F-45CE-A29B-55659F0EEC9D}" presName="circleA" presStyleLbl="node1" presStyleIdx="2" presStyleCnt="7"/>
      <dgm:spPr/>
    </dgm:pt>
    <dgm:pt modelId="{3C430AF4-354F-439D-840C-1C269A585086}" type="pres">
      <dgm:prSet presAssocID="{BB5DD14B-C30F-45CE-A29B-55659F0EEC9D}" presName="spaceA" presStyleCnt="0"/>
      <dgm:spPr/>
    </dgm:pt>
    <dgm:pt modelId="{AE264EE0-B80F-4E68-B4D4-CE28D551E51A}" type="pres">
      <dgm:prSet presAssocID="{5205C7C4-4F4D-457F-A28C-6DA3776F366C}" presName="space" presStyleCnt="0"/>
      <dgm:spPr/>
    </dgm:pt>
    <dgm:pt modelId="{9696A1C6-E6B9-4482-95E0-700C0DE0DDFD}" type="pres">
      <dgm:prSet presAssocID="{F7E47E99-5C8A-4D65-A29C-B81954BE8FC2}" presName="compositeB" presStyleCnt="0"/>
      <dgm:spPr/>
    </dgm:pt>
    <dgm:pt modelId="{8BD3DB8D-A2E5-49FC-91C8-7F20FD5223C4}" type="pres">
      <dgm:prSet presAssocID="{F7E47E99-5C8A-4D65-A29C-B81954BE8FC2}" presName="textB" presStyleLbl="revTx" presStyleIdx="3" presStyleCnt="7">
        <dgm:presLayoutVars>
          <dgm:bulletEnabled val="1"/>
        </dgm:presLayoutVars>
      </dgm:prSet>
      <dgm:spPr/>
    </dgm:pt>
    <dgm:pt modelId="{6F1B191B-082A-40D6-9A39-4538E8324915}" type="pres">
      <dgm:prSet presAssocID="{F7E47E99-5C8A-4D65-A29C-B81954BE8FC2}" presName="circleB" presStyleLbl="node1" presStyleIdx="3" presStyleCnt="7"/>
      <dgm:spPr/>
    </dgm:pt>
    <dgm:pt modelId="{D39D95F1-D239-40F6-9A4C-38755BD6144D}" type="pres">
      <dgm:prSet presAssocID="{F7E47E99-5C8A-4D65-A29C-B81954BE8FC2}" presName="spaceB" presStyleCnt="0"/>
      <dgm:spPr/>
    </dgm:pt>
    <dgm:pt modelId="{6709F387-3D71-4541-9B87-1D7DF1AB5CF5}" type="pres">
      <dgm:prSet presAssocID="{5F84A974-3B3F-49D5-B936-02AB1A38915A}" presName="space" presStyleCnt="0"/>
      <dgm:spPr/>
    </dgm:pt>
    <dgm:pt modelId="{6C2094DA-B545-472E-9817-E2AB9A00E022}" type="pres">
      <dgm:prSet presAssocID="{3A2BED40-A8F5-464B-AFDE-2F674DDFD022}" presName="compositeA" presStyleCnt="0"/>
      <dgm:spPr/>
    </dgm:pt>
    <dgm:pt modelId="{78A118E0-772F-4E84-AA48-A01A4B09FFE7}" type="pres">
      <dgm:prSet presAssocID="{3A2BED40-A8F5-464B-AFDE-2F674DDFD022}" presName="textA" presStyleLbl="revTx" presStyleIdx="4" presStyleCnt="7">
        <dgm:presLayoutVars>
          <dgm:bulletEnabled val="1"/>
        </dgm:presLayoutVars>
      </dgm:prSet>
      <dgm:spPr/>
    </dgm:pt>
    <dgm:pt modelId="{C1B36FD1-839F-4BA7-ADE3-CC2DECA68322}" type="pres">
      <dgm:prSet presAssocID="{3A2BED40-A8F5-464B-AFDE-2F674DDFD022}" presName="circleA" presStyleLbl="node1" presStyleIdx="4" presStyleCnt="7"/>
      <dgm:spPr/>
    </dgm:pt>
    <dgm:pt modelId="{F55AFFE1-D92C-4EBA-A757-CE40EC86DC93}" type="pres">
      <dgm:prSet presAssocID="{3A2BED40-A8F5-464B-AFDE-2F674DDFD022}" presName="spaceA" presStyleCnt="0"/>
      <dgm:spPr/>
    </dgm:pt>
    <dgm:pt modelId="{748C4EAF-06E2-436F-BFB2-D49AA5C69C1B}" type="pres">
      <dgm:prSet presAssocID="{3F6668E1-1D35-45AF-B2B3-9C2AD644615A}" presName="space" presStyleCnt="0"/>
      <dgm:spPr/>
    </dgm:pt>
    <dgm:pt modelId="{D2EFE596-6B72-443F-86B5-A18F850E4F02}" type="pres">
      <dgm:prSet presAssocID="{219A3725-7A42-4884-A6E6-AB5221BBC202}" presName="compositeB" presStyleCnt="0"/>
      <dgm:spPr/>
    </dgm:pt>
    <dgm:pt modelId="{6599F28E-1CD5-400C-A980-AD5582409290}" type="pres">
      <dgm:prSet presAssocID="{219A3725-7A42-4884-A6E6-AB5221BBC202}" presName="textB" presStyleLbl="revTx" presStyleIdx="5" presStyleCnt="7">
        <dgm:presLayoutVars>
          <dgm:bulletEnabled val="1"/>
        </dgm:presLayoutVars>
      </dgm:prSet>
      <dgm:spPr/>
    </dgm:pt>
    <dgm:pt modelId="{09FD7113-934D-4B65-B1E1-4FE6CF392CA4}" type="pres">
      <dgm:prSet presAssocID="{219A3725-7A42-4884-A6E6-AB5221BBC202}" presName="circleB" presStyleLbl="node1" presStyleIdx="5" presStyleCnt="7"/>
      <dgm:spPr/>
    </dgm:pt>
    <dgm:pt modelId="{099A70A2-8906-45A0-AD2E-640597CF5757}" type="pres">
      <dgm:prSet presAssocID="{219A3725-7A42-4884-A6E6-AB5221BBC202}" presName="spaceB" presStyleCnt="0"/>
      <dgm:spPr/>
    </dgm:pt>
    <dgm:pt modelId="{19B8D154-FDDE-4518-9BE9-A50F5E9DE140}" type="pres">
      <dgm:prSet presAssocID="{FD7CE44A-5A47-4B22-AC91-A2138B3DCF62}" presName="space" presStyleCnt="0"/>
      <dgm:spPr/>
    </dgm:pt>
    <dgm:pt modelId="{59E2F74E-DEA9-4B1E-BAF2-0A8880AB5CAA}" type="pres">
      <dgm:prSet presAssocID="{F5EBE1CD-ED6A-4D05-96A0-37943BEA7BA1}" presName="compositeA" presStyleCnt="0"/>
      <dgm:spPr/>
    </dgm:pt>
    <dgm:pt modelId="{2146F4AB-CE59-4DB0-911B-B024113F47B7}" type="pres">
      <dgm:prSet presAssocID="{F5EBE1CD-ED6A-4D05-96A0-37943BEA7BA1}" presName="textA" presStyleLbl="revTx" presStyleIdx="6" presStyleCnt="7" custLinFactNeighborX="-988" custLinFactNeighborY="-2810">
        <dgm:presLayoutVars>
          <dgm:bulletEnabled val="1"/>
        </dgm:presLayoutVars>
      </dgm:prSet>
      <dgm:spPr/>
    </dgm:pt>
    <dgm:pt modelId="{81FDFC0D-BC74-4803-9543-85266ED66763}" type="pres">
      <dgm:prSet presAssocID="{F5EBE1CD-ED6A-4D05-96A0-37943BEA7BA1}" presName="circleA" presStyleLbl="node1" presStyleIdx="6" presStyleCnt="7"/>
      <dgm:spPr/>
    </dgm:pt>
    <dgm:pt modelId="{CE755608-D4A5-4F2C-A74D-4D4CA672D573}" type="pres">
      <dgm:prSet presAssocID="{F5EBE1CD-ED6A-4D05-96A0-37943BEA7BA1}" presName="spaceA" presStyleCnt="0"/>
      <dgm:spPr/>
    </dgm:pt>
  </dgm:ptLst>
  <dgm:cxnLst>
    <dgm:cxn modelId="{62E75D1C-626E-41F6-B1F5-A31A46EB2F29}" type="presOf" srcId="{F7E47E99-5C8A-4D65-A29C-B81954BE8FC2}" destId="{8BD3DB8D-A2E5-49FC-91C8-7F20FD5223C4}" srcOrd="0" destOrd="0" presId="urn:microsoft.com/office/officeart/2005/8/layout/hProcess11"/>
    <dgm:cxn modelId="{15E0E020-4B16-48D0-9AED-499D0B60BF93}" type="presOf" srcId="{219A3725-7A42-4884-A6E6-AB5221BBC202}" destId="{6599F28E-1CD5-400C-A980-AD5582409290}" srcOrd="0" destOrd="0" presId="urn:microsoft.com/office/officeart/2005/8/layout/hProcess11"/>
    <dgm:cxn modelId="{5B6B543A-D6D6-4E4E-9B96-36EB22C7B8CD}" srcId="{CE5FDB2F-0702-484D-B70A-ADED2DF69D82}" destId="{BB5DD14B-C30F-45CE-A29B-55659F0EEC9D}" srcOrd="2" destOrd="0" parTransId="{0350636C-974C-4593-BFB9-6282461B0EAD}" sibTransId="{5205C7C4-4F4D-457F-A28C-6DA3776F366C}"/>
    <dgm:cxn modelId="{75A74E60-8FB3-42AC-962F-28738F5AE1A9}" srcId="{CE5FDB2F-0702-484D-B70A-ADED2DF69D82}" destId="{9C2E7C71-FC97-47E0-9ACD-2C02EFAF5EA5}" srcOrd="1" destOrd="0" parTransId="{3BDFC8E1-878C-431D-B27C-0878566A74D2}" sibTransId="{5E0A50CA-DA74-4139-ACC0-FE88EAEAB603}"/>
    <dgm:cxn modelId="{BD8AD149-6906-4268-99F4-BF894112A76D}" srcId="{CE5FDB2F-0702-484D-B70A-ADED2DF69D82}" destId="{F7E47E99-5C8A-4D65-A29C-B81954BE8FC2}" srcOrd="3" destOrd="0" parTransId="{9A036137-9DF0-4B80-9990-0F0B7A47BDF3}" sibTransId="{5F84A974-3B3F-49D5-B936-02AB1A38915A}"/>
    <dgm:cxn modelId="{6BE83B74-B45C-4734-AE35-89EBC9EC622F}" type="presOf" srcId="{3A2BED40-A8F5-464B-AFDE-2F674DDFD022}" destId="{78A118E0-772F-4E84-AA48-A01A4B09FFE7}" srcOrd="0" destOrd="0" presId="urn:microsoft.com/office/officeart/2005/8/layout/hProcess11"/>
    <dgm:cxn modelId="{C7BCF655-DE57-4FE6-A19E-46811A01B3DB}" type="presOf" srcId="{BB5DD14B-C30F-45CE-A29B-55659F0EEC9D}" destId="{64A0409C-B51A-4CC3-93FF-E89E102FBC8B}" srcOrd="0" destOrd="0" presId="urn:microsoft.com/office/officeart/2005/8/layout/hProcess11"/>
    <dgm:cxn modelId="{32C2408F-2A6F-43CA-BD64-ECAE63E55D87}" srcId="{CE5FDB2F-0702-484D-B70A-ADED2DF69D82}" destId="{F5EBE1CD-ED6A-4D05-96A0-37943BEA7BA1}" srcOrd="6" destOrd="0" parTransId="{BCC9DE6E-6E9D-4DD6-B3E4-1B7D3A9DF258}" sibTransId="{E28F0DC0-6F86-4183-95B6-AFB61D40B44B}"/>
    <dgm:cxn modelId="{7AC7B794-1BAA-4C83-8A60-F9DF76829E7D}" type="presOf" srcId="{C4A448C8-7DAD-4EFC-B8C5-CA58A44681F0}" destId="{93667BFE-D9A8-4C33-A1B8-22A2EF49BEB3}" srcOrd="0" destOrd="0" presId="urn:microsoft.com/office/officeart/2005/8/layout/hProcess11"/>
    <dgm:cxn modelId="{993E04A7-B331-472D-B903-7F38E0E1573C}" type="presOf" srcId="{F5EBE1CD-ED6A-4D05-96A0-37943BEA7BA1}" destId="{2146F4AB-CE59-4DB0-911B-B024113F47B7}" srcOrd="0" destOrd="0" presId="urn:microsoft.com/office/officeart/2005/8/layout/hProcess11"/>
    <dgm:cxn modelId="{986D3DA9-3224-41A2-AD28-1455AB40E8AE}" srcId="{CE5FDB2F-0702-484D-B70A-ADED2DF69D82}" destId="{C4A448C8-7DAD-4EFC-B8C5-CA58A44681F0}" srcOrd="0" destOrd="0" parTransId="{859B60B7-871F-404B-808D-AAF0BF2424B1}" sibTransId="{FEB58209-39AF-461C-AEC0-935DC6820218}"/>
    <dgm:cxn modelId="{A289C9AD-4359-43E1-A2A3-8E21C5CCA71E}" srcId="{CE5FDB2F-0702-484D-B70A-ADED2DF69D82}" destId="{219A3725-7A42-4884-A6E6-AB5221BBC202}" srcOrd="5" destOrd="0" parTransId="{CF97A001-E99A-4FD4-898D-040E6BA3B017}" sibTransId="{FD7CE44A-5A47-4B22-AC91-A2138B3DCF62}"/>
    <dgm:cxn modelId="{0A4E6EB9-A97F-4F0A-87D2-25BB35E5EC82}" type="presOf" srcId="{9C2E7C71-FC97-47E0-9ACD-2C02EFAF5EA5}" destId="{445483A6-1C05-4A9B-8FE4-B557E465CFBE}" srcOrd="0" destOrd="0" presId="urn:microsoft.com/office/officeart/2005/8/layout/hProcess11"/>
    <dgm:cxn modelId="{27D57AEF-AEBE-44CF-8623-F3B80199B4A8}" srcId="{CE5FDB2F-0702-484D-B70A-ADED2DF69D82}" destId="{3A2BED40-A8F5-464B-AFDE-2F674DDFD022}" srcOrd="4" destOrd="0" parTransId="{9228E90C-317E-49BF-A36B-AD7EA715FEC9}" sibTransId="{3F6668E1-1D35-45AF-B2B3-9C2AD644615A}"/>
    <dgm:cxn modelId="{765DD2F4-7625-4812-95AB-F8FC0978E532}" type="presOf" srcId="{CE5FDB2F-0702-484D-B70A-ADED2DF69D82}" destId="{107CEF5A-C794-4C69-BAEC-ACF7FCF05036}" srcOrd="0" destOrd="0" presId="urn:microsoft.com/office/officeart/2005/8/layout/hProcess11"/>
    <dgm:cxn modelId="{945B27C9-4886-423A-B19F-7C1F36BD594B}" type="presParOf" srcId="{107CEF5A-C794-4C69-BAEC-ACF7FCF05036}" destId="{3A360E0B-BF89-45D9-B58C-D2B8E540A10C}" srcOrd="0" destOrd="0" presId="urn:microsoft.com/office/officeart/2005/8/layout/hProcess11"/>
    <dgm:cxn modelId="{4281B356-43D2-4497-9F1C-B33FEEFE7518}" type="presParOf" srcId="{107CEF5A-C794-4C69-BAEC-ACF7FCF05036}" destId="{538F9C49-B7EA-4742-9F30-ECC5640C5103}" srcOrd="1" destOrd="0" presId="urn:microsoft.com/office/officeart/2005/8/layout/hProcess11"/>
    <dgm:cxn modelId="{6C98A156-CB8C-44E6-8C23-25447D00D196}" type="presParOf" srcId="{538F9C49-B7EA-4742-9F30-ECC5640C5103}" destId="{62E79B9E-DC1F-4B57-BA91-93FE1E37B53C}" srcOrd="0" destOrd="0" presId="urn:microsoft.com/office/officeart/2005/8/layout/hProcess11"/>
    <dgm:cxn modelId="{B59B17D4-AB42-44E3-9A25-13C944FF2A09}" type="presParOf" srcId="{62E79B9E-DC1F-4B57-BA91-93FE1E37B53C}" destId="{93667BFE-D9A8-4C33-A1B8-22A2EF49BEB3}" srcOrd="0" destOrd="0" presId="urn:microsoft.com/office/officeart/2005/8/layout/hProcess11"/>
    <dgm:cxn modelId="{931727A4-75E7-4DAE-9E32-5821F3AFF748}" type="presParOf" srcId="{62E79B9E-DC1F-4B57-BA91-93FE1E37B53C}" destId="{E5EDF95D-D7B8-4BFC-B3BA-CA10E3FED13D}" srcOrd="1" destOrd="0" presId="urn:microsoft.com/office/officeart/2005/8/layout/hProcess11"/>
    <dgm:cxn modelId="{A34E4790-B755-4233-A406-08CFC7CB23EC}" type="presParOf" srcId="{62E79B9E-DC1F-4B57-BA91-93FE1E37B53C}" destId="{CCA835C7-1591-40FA-B3DF-BD29A15A58EC}" srcOrd="2" destOrd="0" presId="urn:microsoft.com/office/officeart/2005/8/layout/hProcess11"/>
    <dgm:cxn modelId="{0B1FC4A7-9556-4585-869F-EF16D48766C1}" type="presParOf" srcId="{538F9C49-B7EA-4742-9F30-ECC5640C5103}" destId="{188E9461-D0CC-48EF-A00E-43222B32CA44}" srcOrd="1" destOrd="0" presId="urn:microsoft.com/office/officeart/2005/8/layout/hProcess11"/>
    <dgm:cxn modelId="{2D47AE25-3D28-436D-A843-158A70EB4267}" type="presParOf" srcId="{538F9C49-B7EA-4742-9F30-ECC5640C5103}" destId="{77F458A9-B27A-4EFD-B997-BB9C51CE737D}" srcOrd="2" destOrd="0" presId="urn:microsoft.com/office/officeart/2005/8/layout/hProcess11"/>
    <dgm:cxn modelId="{94B0DD51-2E20-4218-9C59-21F6AEDBC155}" type="presParOf" srcId="{77F458A9-B27A-4EFD-B997-BB9C51CE737D}" destId="{445483A6-1C05-4A9B-8FE4-B557E465CFBE}" srcOrd="0" destOrd="0" presId="urn:microsoft.com/office/officeart/2005/8/layout/hProcess11"/>
    <dgm:cxn modelId="{FBB27323-D76C-4A61-A86F-3A27BB57E4B7}" type="presParOf" srcId="{77F458A9-B27A-4EFD-B997-BB9C51CE737D}" destId="{95657D64-0E46-4C3B-99FE-855DF4BE4155}" srcOrd="1" destOrd="0" presId="urn:microsoft.com/office/officeart/2005/8/layout/hProcess11"/>
    <dgm:cxn modelId="{5DACA338-193C-4B13-92CB-DFC756BBF699}" type="presParOf" srcId="{77F458A9-B27A-4EFD-B997-BB9C51CE737D}" destId="{FB3E7764-7A66-4F8C-A353-2F76A4A9C3CC}" srcOrd="2" destOrd="0" presId="urn:microsoft.com/office/officeart/2005/8/layout/hProcess11"/>
    <dgm:cxn modelId="{BDB903BF-7283-45E7-AF57-C89B7F8E27E2}" type="presParOf" srcId="{538F9C49-B7EA-4742-9F30-ECC5640C5103}" destId="{FE67D8B8-51A4-465E-95F8-C2D4D9C18AB4}" srcOrd="3" destOrd="0" presId="urn:microsoft.com/office/officeart/2005/8/layout/hProcess11"/>
    <dgm:cxn modelId="{28E1C18D-3423-4FB2-B26F-6444AE49C6B0}" type="presParOf" srcId="{538F9C49-B7EA-4742-9F30-ECC5640C5103}" destId="{57A65F6D-7F86-47E7-81EC-59E6ED20F21F}" srcOrd="4" destOrd="0" presId="urn:microsoft.com/office/officeart/2005/8/layout/hProcess11"/>
    <dgm:cxn modelId="{E0263899-C789-4AD8-88EE-9C0787A7DA12}" type="presParOf" srcId="{57A65F6D-7F86-47E7-81EC-59E6ED20F21F}" destId="{64A0409C-B51A-4CC3-93FF-E89E102FBC8B}" srcOrd="0" destOrd="0" presId="urn:microsoft.com/office/officeart/2005/8/layout/hProcess11"/>
    <dgm:cxn modelId="{A66185AC-F02D-4702-9E77-C12BD8DCE704}" type="presParOf" srcId="{57A65F6D-7F86-47E7-81EC-59E6ED20F21F}" destId="{ED341C0F-99B2-45EA-B7C8-63559ACBAC76}" srcOrd="1" destOrd="0" presId="urn:microsoft.com/office/officeart/2005/8/layout/hProcess11"/>
    <dgm:cxn modelId="{03AA8E8C-692D-49AA-9D19-B26DE099198C}" type="presParOf" srcId="{57A65F6D-7F86-47E7-81EC-59E6ED20F21F}" destId="{3C430AF4-354F-439D-840C-1C269A585086}" srcOrd="2" destOrd="0" presId="urn:microsoft.com/office/officeart/2005/8/layout/hProcess11"/>
    <dgm:cxn modelId="{C656B481-CBEF-4E9E-BA0A-C2894B0525AE}" type="presParOf" srcId="{538F9C49-B7EA-4742-9F30-ECC5640C5103}" destId="{AE264EE0-B80F-4E68-B4D4-CE28D551E51A}" srcOrd="5" destOrd="0" presId="urn:microsoft.com/office/officeart/2005/8/layout/hProcess11"/>
    <dgm:cxn modelId="{FDDCD9F9-4965-4663-AB2B-AD7EBBC0C681}" type="presParOf" srcId="{538F9C49-B7EA-4742-9F30-ECC5640C5103}" destId="{9696A1C6-E6B9-4482-95E0-700C0DE0DDFD}" srcOrd="6" destOrd="0" presId="urn:microsoft.com/office/officeart/2005/8/layout/hProcess11"/>
    <dgm:cxn modelId="{9A506875-774A-4576-AE68-F5D3BDB29F60}" type="presParOf" srcId="{9696A1C6-E6B9-4482-95E0-700C0DE0DDFD}" destId="{8BD3DB8D-A2E5-49FC-91C8-7F20FD5223C4}" srcOrd="0" destOrd="0" presId="urn:microsoft.com/office/officeart/2005/8/layout/hProcess11"/>
    <dgm:cxn modelId="{B67188E1-FF56-4AEC-9E25-EB31C78C70AB}" type="presParOf" srcId="{9696A1C6-E6B9-4482-95E0-700C0DE0DDFD}" destId="{6F1B191B-082A-40D6-9A39-4538E8324915}" srcOrd="1" destOrd="0" presId="urn:microsoft.com/office/officeart/2005/8/layout/hProcess11"/>
    <dgm:cxn modelId="{97FBE1F3-95B8-4BEE-B94D-DC59A2DE1CC1}" type="presParOf" srcId="{9696A1C6-E6B9-4482-95E0-700C0DE0DDFD}" destId="{D39D95F1-D239-40F6-9A4C-38755BD6144D}" srcOrd="2" destOrd="0" presId="urn:microsoft.com/office/officeart/2005/8/layout/hProcess11"/>
    <dgm:cxn modelId="{F140B4D2-3672-484C-8B11-08C8DF64761E}" type="presParOf" srcId="{538F9C49-B7EA-4742-9F30-ECC5640C5103}" destId="{6709F387-3D71-4541-9B87-1D7DF1AB5CF5}" srcOrd="7" destOrd="0" presId="urn:microsoft.com/office/officeart/2005/8/layout/hProcess11"/>
    <dgm:cxn modelId="{B48AF089-1060-462D-80BD-CC2C280A8410}" type="presParOf" srcId="{538F9C49-B7EA-4742-9F30-ECC5640C5103}" destId="{6C2094DA-B545-472E-9817-E2AB9A00E022}" srcOrd="8" destOrd="0" presId="urn:microsoft.com/office/officeart/2005/8/layout/hProcess11"/>
    <dgm:cxn modelId="{C2B0E4EF-C57F-49B2-BA0B-788D5DB2D8ED}" type="presParOf" srcId="{6C2094DA-B545-472E-9817-E2AB9A00E022}" destId="{78A118E0-772F-4E84-AA48-A01A4B09FFE7}" srcOrd="0" destOrd="0" presId="urn:microsoft.com/office/officeart/2005/8/layout/hProcess11"/>
    <dgm:cxn modelId="{1D72033B-4B38-4FC1-95F5-22793B8CEEF7}" type="presParOf" srcId="{6C2094DA-B545-472E-9817-E2AB9A00E022}" destId="{C1B36FD1-839F-4BA7-ADE3-CC2DECA68322}" srcOrd="1" destOrd="0" presId="urn:microsoft.com/office/officeart/2005/8/layout/hProcess11"/>
    <dgm:cxn modelId="{5A719DDA-0FD8-4462-8EDE-778C2DA8A6E2}" type="presParOf" srcId="{6C2094DA-B545-472E-9817-E2AB9A00E022}" destId="{F55AFFE1-D92C-4EBA-A757-CE40EC86DC93}" srcOrd="2" destOrd="0" presId="urn:microsoft.com/office/officeart/2005/8/layout/hProcess11"/>
    <dgm:cxn modelId="{CD9F797F-FA21-45B1-AA46-E82B7D9E90F6}" type="presParOf" srcId="{538F9C49-B7EA-4742-9F30-ECC5640C5103}" destId="{748C4EAF-06E2-436F-BFB2-D49AA5C69C1B}" srcOrd="9" destOrd="0" presId="urn:microsoft.com/office/officeart/2005/8/layout/hProcess11"/>
    <dgm:cxn modelId="{B4333E81-E719-4C65-A5F0-09EC02E71654}" type="presParOf" srcId="{538F9C49-B7EA-4742-9F30-ECC5640C5103}" destId="{D2EFE596-6B72-443F-86B5-A18F850E4F02}" srcOrd="10" destOrd="0" presId="urn:microsoft.com/office/officeart/2005/8/layout/hProcess11"/>
    <dgm:cxn modelId="{02423BCF-0B47-4412-88E9-B98EE240FF61}" type="presParOf" srcId="{D2EFE596-6B72-443F-86B5-A18F850E4F02}" destId="{6599F28E-1CD5-400C-A980-AD5582409290}" srcOrd="0" destOrd="0" presId="urn:microsoft.com/office/officeart/2005/8/layout/hProcess11"/>
    <dgm:cxn modelId="{B078BF10-4B73-4278-9AD6-E132BB90D8CF}" type="presParOf" srcId="{D2EFE596-6B72-443F-86B5-A18F850E4F02}" destId="{09FD7113-934D-4B65-B1E1-4FE6CF392CA4}" srcOrd="1" destOrd="0" presId="urn:microsoft.com/office/officeart/2005/8/layout/hProcess11"/>
    <dgm:cxn modelId="{19985067-ABA9-4036-BB6B-06BC7A667363}" type="presParOf" srcId="{D2EFE596-6B72-443F-86B5-A18F850E4F02}" destId="{099A70A2-8906-45A0-AD2E-640597CF5757}" srcOrd="2" destOrd="0" presId="urn:microsoft.com/office/officeart/2005/8/layout/hProcess11"/>
    <dgm:cxn modelId="{AAA79314-73AC-4F31-A168-D1112F569792}" type="presParOf" srcId="{538F9C49-B7EA-4742-9F30-ECC5640C5103}" destId="{19B8D154-FDDE-4518-9BE9-A50F5E9DE140}" srcOrd="11" destOrd="0" presId="urn:microsoft.com/office/officeart/2005/8/layout/hProcess11"/>
    <dgm:cxn modelId="{06BC65DB-4E17-4038-989C-88B3CA8158D1}" type="presParOf" srcId="{538F9C49-B7EA-4742-9F30-ECC5640C5103}" destId="{59E2F74E-DEA9-4B1E-BAF2-0A8880AB5CAA}" srcOrd="12" destOrd="0" presId="urn:microsoft.com/office/officeart/2005/8/layout/hProcess11"/>
    <dgm:cxn modelId="{823FFE7D-5AFB-4209-868E-28D40A2386E5}" type="presParOf" srcId="{59E2F74E-DEA9-4B1E-BAF2-0A8880AB5CAA}" destId="{2146F4AB-CE59-4DB0-911B-B024113F47B7}" srcOrd="0" destOrd="0" presId="urn:microsoft.com/office/officeart/2005/8/layout/hProcess11"/>
    <dgm:cxn modelId="{8F933ACF-8B4C-4450-90F0-46202343FBF7}" type="presParOf" srcId="{59E2F74E-DEA9-4B1E-BAF2-0A8880AB5CAA}" destId="{81FDFC0D-BC74-4803-9543-85266ED66763}" srcOrd="1" destOrd="0" presId="urn:microsoft.com/office/officeart/2005/8/layout/hProcess11"/>
    <dgm:cxn modelId="{57F5938F-9B6C-41FB-98C2-18467C06C818}" type="presParOf" srcId="{59E2F74E-DEA9-4B1E-BAF2-0A8880AB5CAA}" destId="{CE755608-D4A5-4F2C-A74D-4D4CA672D573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360E0B-BF89-45D9-B58C-D2B8E540A10C}">
      <dsp:nvSpPr>
        <dsp:cNvPr id="0" name=""/>
        <dsp:cNvSpPr/>
      </dsp:nvSpPr>
      <dsp:spPr>
        <a:xfrm>
          <a:off x="491526" y="1611635"/>
          <a:ext cx="8263858" cy="165733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667BFE-D9A8-4C33-A1B8-22A2EF49BEB3}">
      <dsp:nvSpPr>
        <dsp:cNvPr id="0" name=""/>
        <dsp:cNvSpPr/>
      </dsp:nvSpPr>
      <dsp:spPr>
        <a:xfrm>
          <a:off x="279686" y="0"/>
          <a:ext cx="1156737" cy="1952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Dataset Collection</a:t>
          </a:r>
          <a:br>
            <a:rPr lang="en-US" sz="1200" kern="1200" dirty="0"/>
          </a:br>
          <a:r>
            <a:rPr lang="en-US" sz="1200" kern="1200" dirty="0"/>
            <a:t>Collected ~2,500 </a:t>
          </a:r>
          <a:r>
            <a:rPr lang="en-US" sz="1200" kern="1200" dirty="0" err="1"/>
            <a:t>sEH</a:t>
          </a:r>
          <a:r>
            <a:rPr lang="en-US" sz="1200" kern="1200" dirty="0"/>
            <a:t> inhibitor compounds with IC₅₀ data from the </a:t>
          </a:r>
          <a:r>
            <a:rPr lang="en-US" sz="1200" kern="1200" dirty="0" err="1"/>
            <a:t>ChEMBL</a:t>
          </a:r>
          <a:r>
            <a:rPr lang="en-US" sz="1200" kern="1200" dirty="0"/>
            <a:t> database.</a:t>
          </a:r>
        </a:p>
      </dsp:txBody>
      <dsp:txXfrm>
        <a:off x="279686" y="0"/>
        <a:ext cx="1156737" cy="1952244"/>
      </dsp:txXfrm>
    </dsp:sp>
    <dsp:sp modelId="{E5EDF95D-D7B8-4BFC-B3BA-CA10E3FED13D}">
      <dsp:nvSpPr>
        <dsp:cNvPr id="0" name=""/>
        <dsp:cNvSpPr/>
      </dsp:nvSpPr>
      <dsp:spPr>
        <a:xfrm>
          <a:off x="614741" y="2196274"/>
          <a:ext cx="488061" cy="488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5483A6-1C05-4A9B-8FE4-B557E465CFBE}">
      <dsp:nvSpPr>
        <dsp:cNvPr id="0" name=""/>
        <dsp:cNvSpPr/>
      </dsp:nvSpPr>
      <dsp:spPr>
        <a:xfrm>
          <a:off x="1494978" y="2928365"/>
          <a:ext cx="1156737" cy="1952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Data Preprocessing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kern="1200" dirty="0"/>
            <a:t>Cleaned the dataset and converted IC₅₀ values to </a:t>
          </a:r>
          <a:r>
            <a:rPr lang="en-US" sz="1050" kern="1200" dirty="0" err="1"/>
            <a:t>pIC</a:t>
          </a:r>
          <a:r>
            <a:rPr lang="en-US" sz="1050" kern="1200" dirty="0"/>
            <a:t>₅₀ for machine learning modeling</a:t>
          </a:r>
          <a:r>
            <a:rPr lang="en-US" sz="1000" kern="1200" dirty="0"/>
            <a:t>.</a:t>
          </a:r>
          <a:endParaRPr lang="en-US" sz="1200" kern="1200" dirty="0"/>
        </a:p>
      </dsp:txBody>
      <dsp:txXfrm>
        <a:off x="1494978" y="2928365"/>
        <a:ext cx="1156737" cy="1952244"/>
      </dsp:txXfrm>
    </dsp:sp>
    <dsp:sp modelId="{95657D64-0E46-4C3B-99FE-855DF4BE4155}">
      <dsp:nvSpPr>
        <dsp:cNvPr id="0" name=""/>
        <dsp:cNvSpPr/>
      </dsp:nvSpPr>
      <dsp:spPr>
        <a:xfrm>
          <a:off x="1829316" y="2196274"/>
          <a:ext cx="488061" cy="488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A0409C-B51A-4CC3-93FF-E89E102FBC8B}">
      <dsp:nvSpPr>
        <dsp:cNvPr id="0" name=""/>
        <dsp:cNvSpPr/>
      </dsp:nvSpPr>
      <dsp:spPr>
        <a:xfrm>
          <a:off x="2709552" y="0"/>
          <a:ext cx="1156737" cy="1952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Descriptor Generation</a:t>
          </a:r>
          <a:br>
            <a:rPr lang="en-US" sz="1200" kern="1200" dirty="0"/>
          </a:br>
          <a:r>
            <a:rPr lang="en-US" sz="1200" kern="1200" dirty="0"/>
            <a:t>Generated ~2200 molecular descriptors and fingerprints using </a:t>
          </a:r>
          <a:r>
            <a:rPr lang="en-US" sz="1200" kern="1200" dirty="0" err="1"/>
            <a:t>RDKit</a:t>
          </a:r>
          <a:r>
            <a:rPr lang="en-US" sz="1200" kern="1200" dirty="0"/>
            <a:t>.</a:t>
          </a:r>
        </a:p>
      </dsp:txBody>
      <dsp:txXfrm>
        <a:off x="2709552" y="0"/>
        <a:ext cx="1156737" cy="1952244"/>
      </dsp:txXfrm>
    </dsp:sp>
    <dsp:sp modelId="{ED341C0F-99B2-45EA-B7C8-63559ACBAC76}">
      <dsp:nvSpPr>
        <dsp:cNvPr id="0" name=""/>
        <dsp:cNvSpPr/>
      </dsp:nvSpPr>
      <dsp:spPr>
        <a:xfrm>
          <a:off x="3043890" y="2196274"/>
          <a:ext cx="488061" cy="488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D3DB8D-A2E5-49FC-91C8-7F20FD5223C4}">
      <dsp:nvSpPr>
        <dsp:cNvPr id="0" name=""/>
        <dsp:cNvSpPr/>
      </dsp:nvSpPr>
      <dsp:spPr>
        <a:xfrm>
          <a:off x="3924126" y="2928365"/>
          <a:ext cx="1156737" cy="1952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85344" bIns="85344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 dirty="0"/>
            <a:t>QSAR Model Development</a:t>
          </a:r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Trained multiple machine learning models to predict inhibitor potency.</a:t>
          </a:r>
        </a:p>
      </dsp:txBody>
      <dsp:txXfrm>
        <a:off x="3924126" y="2928365"/>
        <a:ext cx="1156737" cy="1952244"/>
      </dsp:txXfrm>
    </dsp:sp>
    <dsp:sp modelId="{6F1B191B-082A-40D6-9A39-4538E8324915}">
      <dsp:nvSpPr>
        <dsp:cNvPr id="0" name=""/>
        <dsp:cNvSpPr/>
      </dsp:nvSpPr>
      <dsp:spPr>
        <a:xfrm>
          <a:off x="4258465" y="2196274"/>
          <a:ext cx="488061" cy="488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A118E0-772F-4E84-AA48-A01A4B09FFE7}">
      <dsp:nvSpPr>
        <dsp:cNvPr id="0" name=""/>
        <dsp:cNvSpPr/>
      </dsp:nvSpPr>
      <dsp:spPr>
        <a:xfrm>
          <a:off x="5138701" y="0"/>
          <a:ext cx="1156737" cy="1952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Virtual Screening</a:t>
          </a:r>
          <a:br>
            <a:rPr lang="en-US" sz="1200" kern="1200" dirty="0"/>
          </a:br>
          <a:r>
            <a:rPr lang="en-US" sz="1100" kern="1200" dirty="0"/>
            <a:t>Screened compound libraries using the trained QSAR model to predict bioactivity.</a:t>
          </a:r>
          <a:endParaRPr lang="en-US" sz="1200" kern="1200" dirty="0"/>
        </a:p>
      </dsp:txBody>
      <dsp:txXfrm>
        <a:off x="5138701" y="0"/>
        <a:ext cx="1156737" cy="1952244"/>
      </dsp:txXfrm>
    </dsp:sp>
    <dsp:sp modelId="{C1B36FD1-839F-4BA7-ADE3-CC2DECA68322}">
      <dsp:nvSpPr>
        <dsp:cNvPr id="0" name=""/>
        <dsp:cNvSpPr/>
      </dsp:nvSpPr>
      <dsp:spPr>
        <a:xfrm>
          <a:off x="5473039" y="2196274"/>
          <a:ext cx="488061" cy="488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99F28E-1CD5-400C-A980-AD5582409290}">
      <dsp:nvSpPr>
        <dsp:cNvPr id="0" name=""/>
        <dsp:cNvSpPr/>
      </dsp:nvSpPr>
      <dsp:spPr>
        <a:xfrm>
          <a:off x="6353275" y="2928365"/>
          <a:ext cx="1156737" cy="1952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8232" tIns="78232" rIns="78232" bIns="78232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 dirty="0"/>
            <a:t>Docking &amp; ADMET Filtering</a:t>
          </a:r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50" b="1" kern="1200" dirty="0"/>
            <a:t> </a:t>
          </a:r>
          <a:r>
            <a:rPr lang="en-US" sz="1050" kern="1200" dirty="0"/>
            <a:t>Performed molecular docking and applied drug-likeness filters to shortlist promising compounds.</a:t>
          </a:r>
        </a:p>
      </dsp:txBody>
      <dsp:txXfrm>
        <a:off x="6353275" y="2928365"/>
        <a:ext cx="1156737" cy="1952244"/>
      </dsp:txXfrm>
    </dsp:sp>
    <dsp:sp modelId="{09FD7113-934D-4B65-B1E1-4FE6CF392CA4}">
      <dsp:nvSpPr>
        <dsp:cNvPr id="0" name=""/>
        <dsp:cNvSpPr/>
      </dsp:nvSpPr>
      <dsp:spPr>
        <a:xfrm>
          <a:off x="6687613" y="2196274"/>
          <a:ext cx="488061" cy="488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46F4AB-CE59-4DB0-911B-B024113F47B7}">
      <dsp:nvSpPr>
        <dsp:cNvPr id="0" name=""/>
        <dsp:cNvSpPr/>
      </dsp:nvSpPr>
      <dsp:spPr>
        <a:xfrm>
          <a:off x="7556421" y="0"/>
          <a:ext cx="1156737" cy="195224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568" tIns="99568" rIns="99568" bIns="99568" numCol="1" spcCol="1270" anchor="b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MD Simulation Preparation</a:t>
          </a:r>
          <a:endParaRPr lang="en-US" sz="1100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/>
            <a:t>Selected top candidate inhibitors and prepared them for molecular dynamics simulations.</a:t>
          </a:r>
          <a:endParaRPr lang="en-US" sz="1200" kern="1200" dirty="0"/>
        </a:p>
      </dsp:txBody>
      <dsp:txXfrm>
        <a:off x="7556421" y="0"/>
        <a:ext cx="1156737" cy="1952244"/>
      </dsp:txXfrm>
    </dsp:sp>
    <dsp:sp modelId="{81FDFC0D-BC74-4803-9543-85266ED66763}">
      <dsp:nvSpPr>
        <dsp:cNvPr id="0" name=""/>
        <dsp:cNvSpPr/>
      </dsp:nvSpPr>
      <dsp:spPr>
        <a:xfrm>
          <a:off x="7902188" y="2196274"/>
          <a:ext cx="488061" cy="48806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571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B33A6-A820-72DF-99C5-79151D21B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7B221E-B296-2E58-9052-1F081EF0B9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340B843-4EA2-0D7B-4AC6-C178FC240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B54C99-D1DF-5976-08BA-33763402D1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11822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97E07-4F7C-157D-3CC1-1BE228C7A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4B6BE1-B9AE-5D03-8646-638416D3C0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04DC63-8624-A463-E2CC-D53352E62A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7F4D3D-8FA9-0048-AE56-91172F3F78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909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6DED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DFBF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4510" y="4843463"/>
            <a:ext cx="1076628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084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model.com/templates/thank-you-appreciation-powerpoint-template/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E2F397B-4BB1-48C6-9EE0-C8B3399680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51430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823595" y="1674564"/>
            <a:ext cx="4240223" cy="265506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800" b="1" dirty="0">
                <a:latin typeface="+mj-lt"/>
                <a:ea typeface="+mj-ea"/>
                <a:cs typeface="+mj-cs"/>
              </a:rPr>
              <a:t>Web-Based QSAR Modeling for Bioactivity Prediction of Soluble Epoxide Hydrolase (</a:t>
            </a:r>
            <a:r>
              <a:rPr lang="en-US" sz="2800" b="1" dirty="0" err="1">
                <a:latin typeface="+mj-lt"/>
                <a:ea typeface="+mj-ea"/>
                <a:cs typeface="+mj-cs"/>
              </a:rPr>
              <a:t>sEH</a:t>
            </a:r>
            <a:r>
              <a:rPr lang="en-US" sz="2800" b="1" dirty="0">
                <a:latin typeface="+mj-lt"/>
                <a:ea typeface="+mj-ea"/>
                <a:cs typeface="+mj-cs"/>
              </a:rPr>
              <a:t>) Inhibitors</a:t>
            </a:r>
          </a:p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2800" b="1" dirty="0"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0485" y="2654006"/>
            <a:ext cx="3821847" cy="12823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1700" i="1" dirty="0"/>
              <a:t>Predicting Soluble Epoxide Hydrolase Inhibitor Potency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2172463"/>
            <a:ext cx="548639" cy="505095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E856C990-1500-4B50-B148-B7E1943FED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1583" y="201057"/>
            <a:ext cx="3359797" cy="211974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0BEF6CC4-ADA2-2A1D-2115-9436F29DA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310" y="401420"/>
            <a:ext cx="1717543" cy="1717543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1584" y="2481346"/>
            <a:ext cx="3359797" cy="211974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412564" y="4765398"/>
            <a:ext cx="3358815" cy="3519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82C1EF6-9980-BDAB-E4F3-1B46758B68B1}"/>
              </a:ext>
            </a:extLst>
          </p:cNvPr>
          <p:cNvGrpSpPr/>
          <p:nvPr/>
        </p:nvGrpSpPr>
        <p:grpSpPr>
          <a:xfrm>
            <a:off x="5608296" y="2851738"/>
            <a:ext cx="2985573" cy="1387514"/>
            <a:chOff x="1059418" y="5330904"/>
            <a:chExt cx="12511564" cy="1956912"/>
          </a:xfrm>
        </p:grpSpPr>
        <p:sp>
          <p:nvSpPr>
            <p:cNvPr id="7" name="Text 3">
              <a:extLst>
                <a:ext uri="{FF2B5EF4-FFF2-40B4-BE49-F238E27FC236}">
                  <a16:creationId xmlns:a16="http://schemas.microsoft.com/office/drawing/2014/main" id="{B6444A9C-E9AA-9FEF-D8FF-3532F0287FD1}"/>
                </a:ext>
              </a:extLst>
            </p:cNvPr>
            <p:cNvSpPr/>
            <p:nvPr/>
          </p:nvSpPr>
          <p:spPr>
            <a:xfrm>
              <a:off x="1059418" y="5330904"/>
              <a:ext cx="12511564" cy="2609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41832">
                <a:lnSpc>
                  <a:spcPts val="2112"/>
                </a:lnSpc>
                <a:spcAft>
                  <a:spcPts val="600"/>
                </a:spcAft>
              </a:pPr>
              <a:r>
                <a:rPr lang="en-US" sz="1442" kern="1200">
                  <a:latin typeface="Noto Serif" pitchFamily="34" charset="0"/>
                  <a:ea typeface="Noto Serif" pitchFamily="34" charset="-122"/>
                  <a:cs typeface="Noto Serif" pitchFamily="34" charset="-120"/>
                </a:rPr>
                <a:t>M.Ramana Maharshi</a:t>
              </a:r>
              <a:endParaRPr lang="en-US" sz="1400"/>
            </a:p>
          </p:txBody>
        </p:sp>
        <p:sp>
          <p:nvSpPr>
            <p:cNvPr id="8" name="Text 4">
              <a:extLst>
                <a:ext uri="{FF2B5EF4-FFF2-40B4-BE49-F238E27FC236}">
                  <a16:creationId xmlns:a16="http://schemas.microsoft.com/office/drawing/2014/main" id="{5604846E-C310-920E-9949-1352718AB353}"/>
                </a:ext>
              </a:extLst>
            </p:cNvPr>
            <p:cNvSpPr/>
            <p:nvPr/>
          </p:nvSpPr>
          <p:spPr>
            <a:xfrm>
              <a:off x="1059418" y="5754886"/>
              <a:ext cx="12511564" cy="2609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41832">
                <a:lnSpc>
                  <a:spcPts val="2112"/>
                </a:lnSpc>
                <a:spcAft>
                  <a:spcPts val="600"/>
                </a:spcAft>
              </a:pPr>
              <a:r>
                <a:rPr lang="en-US" sz="1442" kern="1200">
                  <a:latin typeface="Noto Serif" pitchFamily="34" charset="0"/>
                  <a:ea typeface="Noto Serif" pitchFamily="34" charset="-122"/>
                  <a:cs typeface="Noto Serif" pitchFamily="34" charset="-120"/>
                </a:rPr>
                <a:t>Final Year Bioinformatics</a:t>
              </a:r>
              <a:endParaRPr lang="en-US" sz="1400"/>
            </a:p>
          </p:txBody>
        </p:sp>
        <p:sp>
          <p:nvSpPr>
            <p:cNvPr id="9" name="Text 5">
              <a:extLst>
                <a:ext uri="{FF2B5EF4-FFF2-40B4-BE49-F238E27FC236}">
                  <a16:creationId xmlns:a16="http://schemas.microsoft.com/office/drawing/2014/main" id="{64F2DC1C-6388-F4DE-D26A-7A7984B45903}"/>
                </a:ext>
              </a:extLst>
            </p:cNvPr>
            <p:cNvSpPr/>
            <p:nvPr/>
          </p:nvSpPr>
          <p:spPr>
            <a:xfrm>
              <a:off x="1059418" y="6178868"/>
              <a:ext cx="12511564" cy="2609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41832">
                <a:lnSpc>
                  <a:spcPts val="2112"/>
                </a:lnSpc>
                <a:spcAft>
                  <a:spcPts val="600"/>
                </a:spcAft>
              </a:pPr>
              <a:r>
                <a:rPr lang="en-US" sz="1442" kern="1200">
                  <a:latin typeface="Noto Serif" pitchFamily="34" charset="0"/>
                  <a:ea typeface="Noto Serif" pitchFamily="34" charset="-122"/>
                  <a:cs typeface="Noto Serif" pitchFamily="34" charset="-120"/>
                </a:rPr>
                <a:t>Semester: 4.2</a:t>
              </a:r>
              <a:endParaRPr lang="en-US" sz="1400"/>
            </a:p>
          </p:txBody>
        </p:sp>
        <p:sp>
          <p:nvSpPr>
            <p:cNvPr id="10" name="Text 6">
              <a:extLst>
                <a:ext uri="{FF2B5EF4-FFF2-40B4-BE49-F238E27FC236}">
                  <a16:creationId xmlns:a16="http://schemas.microsoft.com/office/drawing/2014/main" id="{07FB8935-72D7-1D38-D9B1-1AF71749430F}"/>
                </a:ext>
              </a:extLst>
            </p:cNvPr>
            <p:cNvSpPr/>
            <p:nvPr/>
          </p:nvSpPr>
          <p:spPr>
            <a:xfrm>
              <a:off x="1059418" y="6602849"/>
              <a:ext cx="12511564" cy="2609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41832">
                <a:lnSpc>
                  <a:spcPts val="2112"/>
                </a:lnSpc>
                <a:spcAft>
                  <a:spcPts val="600"/>
                </a:spcAft>
              </a:pPr>
              <a:r>
                <a:rPr lang="en-US" sz="1442" kern="1200">
                  <a:latin typeface="Noto Serif" pitchFamily="34" charset="0"/>
                  <a:ea typeface="Noto Serif" pitchFamily="34" charset="-122"/>
                  <a:cs typeface="Noto Serif" pitchFamily="34" charset="-120"/>
                </a:rPr>
                <a:t>Guide: Abraham Sir</a:t>
              </a:r>
              <a:endParaRPr lang="en-US" sz="1400"/>
            </a:p>
          </p:txBody>
        </p:sp>
        <p:sp>
          <p:nvSpPr>
            <p:cNvPr id="11" name="Text 7">
              <a:extLst>
                <a:ext uri="{FF2B5EF4-FFF2-40B4-BE49-F238E27FC236}">
                  <a16:creationId xmlns:a16="http://schemas.microsoft.com/office/drawing/2014/main" id="{35AEF5DB-73BF-5D44-4041-376698BC959B}"/>
                </a:ext>
              </a:extLst>
            </p:cNvPr>
            <p:cNvSpPr/>
            <p:nvPr/>
          </p:nvSpPr>
          <p:spPr>
            <a:xfrm>
              <a:off x="1059418" y="7026831"/>
              <a:ext cx="12511564" cy="26098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defTabSz="941832">
                <a:lnSpc>
                  <a:spcPts val="2112"/>
                </a:lnSpc>
                <a:spcAft>
                  <a:spcPts val="600"/>
                </a:spcAft>
              </a:pPr>
              <a:r>
                <a:rPr lang="en-US" sz="1442" kern="1200" dirty="0">
                  <a:latin typeface="Noto Serif" pitchFamily="34" charset="0"/>
                  <a:ea typeface="Noto Serif" pitchFamily="34" charset="-122"/>
                  <a:cs typeface="Noto Serif" pitchFamily="34" charset="-120"/>
                </a:rPr>
                <a:t>Vignan University</a:t>
              </a:r>
              <a:endParaRPr lang="en-US" sz="1400" dirty="0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DE572307-B480-250E-41A1-316D6ADDFCA7}"/>
              </a:ext>
            </a:extLst>
          </p:cNvPr>
          <p:cNvSpPr txBox="1"/>
          <p:nvPr/>
        </p:nvSpPr>
        <p:spPr>
          <a:xfrm>
            <a:off x="1690269" y="1022441"/>
            <a:ext cx="3547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FINAL YEAR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Background: Why Target sEH?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5C0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• sEH degrades anti-inflammatory EETs
• Implicated in multiple diseases
• Traditional discovery: slow &amp; expensive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234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897B"/>
                </a:solidFill>
              </a:rPr>
              <a:t>Our Solution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029200" y="17373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• ML: 10-100× faster screening
• QSAR: Predict from structure
• Cost-Effective: $0-300 vs $1M+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Research 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Compile high-quality dataset from ChEMBL (2,000-3,500 compounds)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1920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Engineer comprehensive molecular descriptors (2,200+ features)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05840" y="256032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Train and compare 10 ML algorithms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32004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Rigorous validation (CV, test set, Y-randomization)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840480"/>
            <a:ext cx="365760" cy="365760"/>
          </a:xfrm>
          <a:prstGeom prst="ellipse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840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12121"/>
                </a:solidFill>
              </a:rPr>
              <a:t>Interpret results with SHAP analysis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Methodology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371600" cy="13716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Data Collection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ChEMBL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IC50 values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~2,500 compounds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023110" y="1599146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606040" y="1188720"/>
            <a:ext cx="1371600" cy="13716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348213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Preprocessing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20340" y="172593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Quality 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pIC50 calc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De-dup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47460" y="1611630"/>
            <a:ext cx="868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</a:rPr>
              <a:t>→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 rot="9516761">
            <a:off x="5438597" y="3177583"/>
            <a:ext cx="246930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</a:rPr>
              <a:t>→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720840" y="173736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</a:rPr>
              <a:t>→</a:t>
            </a:r>
            <a:endParaRPr lang="en-US" sz="2400" dirty="0"/>
          </a:p>
        </p:txBody>
      </p:sp>
      <p:sp>
        <p:nvSpPr>
          <p:cNvPr id="35" name="Shape 14">
            <a:extLst>
              <a:ext uri="{FF2B5EF4-FFF2-40B4-BE49-F238E27FC236}">
                <a16:creationId xmlns:a16="http://schemas.microsoft.com/office/drawing/2014/main" id="{E679A3A7-A3D5-849C-4D09-EFCF7DEE9394}"/>
              </a:ext>
            </a:extLst>
          </p:cNvPr>
          <p:cNvSpPr/>
          <p:nvPr/>
        </p:nvSpPr>
        <p:spPr>
          <a:xfrm>
            <a:off x="7315200" y="1200150"/>
            <a:ext cx="1371600" cy="13716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2B48E99F-7A6F-BF27-3F7F-E9D8429E1213}"/>
              </a:ext>
            </a:extLst>
          </p:cNvPr>
          <p:cNvSpPr/>
          <p:nvPr/>
        </p:nvSpPr>
        <p:spPr>
          <a:xfrm>
            <a:off x="7360920" y="12801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</a:rPr>
              <a:t>ML Training</a:t>
            </a:r>
            <a:endParaRPr lang="en-US" sz="1600" dirty="0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242C7B8E-2E46-E034-7F91-345F80B233B7}"/>
              </a:ext>
            </a:extLst>
          </p:cNvPr>
          <p:cNvSpPr/>
          <p:nvPr/>
        </p:nvSpPr>
        <p:spPr>
          <a:xfrm>
            <a:off x="7315200" y="1725930"/>
            <a:ext cx="12801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10 algorithms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70/15/15 split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212121"/>
                </a:solidFill>
              </a:rPr>
              <a:t>Optimization</a:t>
            </a:r>
            <a:endParaRPr lang="en-US" sz="11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9A04EED3-B37E-9E5B-2311-BB3C20197115}"/>
              </a:ext>
            </a:extLst>
          </p:cNvPr>
          <p:cNvGrpSpPr/>
          <p:nvPr/>
        </p:nvGrpSpPr>
        <p:grpSpPr>
          <a:xfrm>
            <a:off x="2651760" y="3371850"/>
            <a:ext cx="1371600" cy="1371600"/>
            <a:chOff x="3886200" y="3383280"/>
            <a:chExt cx="1371600" cy="1371600"/>
          </a:xfrm>
        </p:grpSpPr>
        <p:sp>
          <p:nvSpPr>
            <p:cNvPr id="39" name="Shape 18">
              <a:extLst>
                <a:ext uri="{FF2B5EF4-FFF2-40B4-BE49-F238E27FC236}">
                  <a16:creationId xmlns:a16="http://schemas.microsoft.com/office/drawing/2014/main" id="{1765B828-31EF-8700-7746-7611634E10FF}"/>
                </a:ext>
              </a:extLst>
            </p:cNvPr>
            <p:cNvSpPr/>
            <p:nvPr/>
          </p:nvSpPr>
          <p:spPr>
            <a:xfrm>
              <a:off x="3886200" y="3383280"/>
              <a:ext cx="1371600" cy="1371600"/>
            </a:xfrm>
            <a:prstGeom prst="rect">
              <a:avLst/>
            </a:prstGeom>
            <a:solidFill>
              <a:srgbClr val="FFF3E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 19">
              <a:extLst>
                <a:ext uri="{FF2B5EF4-FFF2-40B4-BE49-F238E27FC236}">
                  <a16:creationId xmlns:a16="http://schemas.microsoft.com/office/drawing/2014/main" id="{715533E1-A27F-1AAC-40C6-6D7B16D7252E}"/>
                </a:ext>
              </a:extLst>
            </p:cNvPr>
            <p:cNvSpPr/>
            <p:nvPr/>
          </p:nvSpPr>
          <p:spPr>
            <a:xfrm>
              <a:off x="3931920" y="349758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6F00"/>
                  </a:solidFill>
                </a:rPr>
                <a:t>Deployment</a:t>
              </a:r>
              <a:endParaRPr lang="en-US" sz="1600" dirty="0"/>
            </a:p>
          </p:txBody>
        </p:sp>
        <p:sp>
          <p:nvSpPr>
            <p:cNvPr id="41" name="Text 20">
              <a:extLst>
                <a:ext uri="{FF2B5EF4-FFF2-40B4-BE49-F238E27FC236}">
                  <a16:creationId xmlns:a16="http://schemas.microsoft.com/office/drawing/2014/main" id="{2655B73C-DCD8-71EF-5795-014623E98141}"/>
                </a:ext>
              </a:extLst>
            </p:cNvPr>
            <p:cNvSpPr/>
            <p:nvPr/>
          </p:nvSpPr>
          <p:spPr>
            <a:xfrm>
              <a:off x="3931920" y="3863340"/>
              <a:ext cx="1280160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algn="ctr"/>
              <a:r>
                <a:rPr lang="en-US" sz="1100" dirty="0"/>
                <a:t>Web-based deployment using </a:t>
              </a:r>
              <a:r>
                <a:rPr lang="en-US" sz="1100" dirty="0" err="1"/>
                <a:t>Streamlit</a:t>
              </a:r>
              <a:endParaRPr lang="en-US" sz="11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7C191F83-0805-1DA5-F33A-A16515547F17}"/>
              </a:ext>
            </a:extLst>
          </p:cNvPr>
          <p:cNvGrpSpPr/>
          <p:nvPr/>
        </p:nvGrpSpPr>
        <p:grpSpPr>
          <a:xfrm>
            <a:off x="5257800" y="1142473"/>
            <a:ext cx="1371600" cy="1371600"/>
            <a:chOff x="3611880" y="1188720"/>
            <a:chExt cx="1371600" cy="1371600"/>
          </a:xfrm>
        </p:grpSpPr>
        <p:sp>
          <p:nvSpPr>
            <p:cNvPr id="46" name="Shape 10">
              <a:extLst>
                <a:ext uri="{FF2B5EF4-FFF2-40B4-BE49-F238E27FC236}">
                  <a16:creationId xmlns:a16="http://schemas.microsoft.com/office/drawing/2014/main" id="{5570A9E3-8C27-D70D-385D-D69D6DC61207}"/>
                </a:ext>
              </a:extLst>
            </p:cNvPr>
            <p:cNvSpPr/>
            <p:nvPr/>
          </p:nvSpPr>
          <p:spPr>
            <a:xfrm>
              <a:off x="3611880" y="1188720"/>
              <a:ext cx="1371600" cy="1371600"/>
            </a:xfrm>
            <a:prstGeom prst="rect">
              <a:avLst/>
            </a:prstGeom>
            <a:solidFill>
              <a:srgbClr val="E3F2FD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Text 11">
              <a:extLst>
                <a:ext uri="{FF2B5EF4-FFF2-40B4-BE49-F238E27FC236}">
                  <a16:creationId xmlns:a16="http://schemas.microsoft.com/office/drawing/2014/main" id="{EB82E2BB-185B-A51F-ABA8-0A6C6B00A836}"/>
                </a:ext>
              </a:extLst>
            </p:cNvPr>
            <p:cNvSpPr/>
            <p:nvPr/>
          </p:nvSpPr>
          <p:spPr>
            <a:xfrm>
              <a:off x="3657600" y="128016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1565C0"/>
                  </a:solidFill>
                </a:rPr>
                <a:t>Features</a:t>
              </a:r>
              <a:endParaRPr lang="en-US" sz="1600" dirty="0"/>
            </a:p>
          </p:txBody>
        </p:sp>
        <p:sp>
          <p:nvSpPr>
            <p:cNvPr id="48" name="Text 12">
              <a:extLst>
                <a:ext uri="{FF2B5EF4-FFF2-40B4-BE49-F238E27FC236}">
                  <a16:creationId xmlns:a16="http://schemas.microsoft.com/office/drawing/2014/main" id="{0AF6D076-5FBD-22E5-BB71-53D6C24CDBAF}"/>
                </a:ext>
              </a:extLst>
            </p:cNvPr>
            <p:cNvSpPr/>
            <p:nvPr/>
          </p:nvSpPr>
          <p:spPr>
            <a:xfrm>
              <a:off x="3657600" y="1737360"/>
              <a:ext cx="1280160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12121"/>
                  </a:solidFill>
                </a:rPr>
                <a:t>2D descriptors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12121"/>
                  </a:solidFill>
                </a:rPr>
                <a:t>Fingerprints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12121"/>
                  </a:solidFill>
                </a:rPr>
                <a:t>~2,200 features</a:t>
              </a:r>
              <a:endParaRPr lang="en-US" sz="1100" dirty="0"/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CFD50435-B433-98EA-E9DC-CC49680B4734}"/>
              </a:ext>
            </a:extLst>
          </p:cNvPr>
          <p:cNvGrpSpPr/>
          <p:nvPr/>
        </p:nvGrpSpPr>
        <p:grpSpPr>
          <a:xfrm>
            <a:off x="4848500" y="3455756"/>
            <a:ext cx="1371600" cy="1371600"/>
            <a:chOff x="3886200" y="3383280"/>
            <a:chExt cx="1371600" cy="1371600"/>
          </a:xfrm>
        </p:grpSpPr>
        <p:sp>
          <p:nvSpPr>
            <p:cNvPr id="51" name="Shape 18">
              <a:extLst>
                <a:ext uri="{FF2B5EF4-FFF2-40B4-BE49-F238E27FC236}">
                  <a16:creationId xmlns:a16="http://schemas.microsoft.com/office/drawing/2014/main" id="{C147AC42-9471-91C3-95C6-BFA6340EA76C}"/>
                </a:ext>
              </a:extLst>
            </p:cNvPr>
            <p:cNvSpPr/>
            <p:nvPr/>
          </p:nvSpPr>
          <p:spPr>
            <a:xfrm>
              <a:off x="3886200" y="3383280"/>
              <a:ext cx="1371600" cy="1371600"/>
            </a:xfrm>
            <a:prstGeom prst="rect">
              <a:avLst/>
            </a:prstGeom>
            <a:solidFill>
              <a:srgbClr val="FFF3E0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9">
              <a:extLst>
                <a:ext uri="{FF2B5EF4-FFF2-40B4-BE49-F238E27FC236}">
                  <a16:creationId xmlns:a16="http://schemas.microsoft.com/office/drawing/2014/main" id="{8B81AD6B-1BB4-CAB4-9008-1D4D2A07F97E}"/>
                </a:ext>
              </a:extLst>
            </p:cNvPr>
            <p:cNvSpPr/>
            <p:nvPr/>
          </p:nvSpPr>
          <p:spPr>
            <a:xfrm>
              <a:off x="3931920" y="3497580"/>
              <a:ext cx="12801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FF6F00"/>
                  </a:solidFill>
                </a:rPr>
                <a:t>Validation</a:t>
              </a:r>
              <a:endParaRPr lang="en-US" sz="1600" dirty="0"/>
            </a:p>
          </p:txBody>
        </p:sp>
        <p:sp>
          <p:nvSpPr>
            <p:cNvPr id="53" name="Text 20">
              <a:extLst>
                <a:ext uri="{FF2B5EF4-FFF2-40B4-BE49-F238E27FC236}">
                  <a16:creationId xmlns:a16="http://schemas.microsoft.com/office/drawing/2014/main" id="{E676C945-F71D-7B28-1F32-EC99F927A3F6}"/>
                </a:ext>
              </a:extLst>
            </p:cNvPr>
            <p:cNvSpPr/>
            <p:nvPr/>
          </p:nvSpPr>
          <p:spPr>
            <a:xfrm>
              <a:off x="3931920" y="3863340"/>
              <a:ext cx="1280160" cy="7315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 algn="ctr">
                <a:buNone/>
              </a:pPr>
              <a:r>
                <a:rPr lang="en-US" sz="1100" dirty="0">
                  <a:solidFill>
                    <a:srgbClr val="212121"/>
                  </a:solidFill>
                </a:rPr>
                <a:t>Cross-validation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12121"/>
                  </a:solidFill>
                </a:rPr>
                <a:t>Test set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dirty="0">
                  <a:solidFill>
                    <a:srgbClr val="212121"/>
                  </a:solidFill>
                </a:rPr>
                <a:t>SHAP</a:t>
              </a:r>
              <a:endParaRPr lang="en-US" sz="1100" dirty="0"/>
            </a:p>
          </p:txBody>
        </p:sp>
      </p:grpSp>
      <p:sp>
        <p:nvSpPr>
          <p:cNvPr id="54" name="Text 13">
            <a:extLst>
              <a:ext uri="{FF2B5EF4-FFF2-40B4-BE49-F238E27FC236}">
                <a16:creationId xmlns:a16="http://schemas.microsoft.com/office/drawing/2014/main" id="{34F268CD-EDB6-B25E-FE50-996E26777509}"/>
              </a:ext>
            </a:extLst>
          </p:cNvPr>
          <p:cNvSpPr/>
          <p:nvPr/>
        </p:nvSpPr>
        <p:spPr>
          <a:xfrm rot="10800000">
            <a:off x="3269859" y="3684926"/>
            <a:ext cx="246930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565C0"/>
                </a:solidFill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Dataset Characteristics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926080" cy="137160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5216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Summary Statistics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16459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Total compounds: 2,542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pIC50 range: 4.2 - 10.5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Mean ± SD: 7.1 ± 1.3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Median: 7.2</a:t>
            </a:r>
            <a:endParaRPr lang="en-US" sz="1200" dirty="0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BAC6B575-AFC3-37D0-B34A-372072C30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97630" y="4038183"/>
            <a:ext cx="50292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Bioactivity data collected for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sEH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inhibitors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IC₅₀ /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₅₀ used as target variable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cleaned and converted into ML-ready format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79B87-B7EC-BEFF-3200-AF69EDA09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F22D429-62DD-D567-91C1-5A722B37EE33}"/>
              </a:ext>
            </a:extLst>
          </p:cNvPr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Dataset Collection</a:t>
            </a:r>
            <a:endParaRPr lang="en-US" sz="3200" dirty="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228F17D-2ABC-3AC1-D68A-406310D73ED2}"/>
              </a:ext>
            </a:extLst>
          </p:cNvPr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F27900F2-0008-5140-5D0C-D7E35004BF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37960" y="2079308"/>
            <a:ext cx="2423160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Bioactivity data collected for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sEH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inhibitors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IC₅₀ /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pIC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₅₀ used as target variable</a:t>
            </a:r>
          </a:p>
          <a:p>
            <a:pPr marL="285750" marR="0" lvl="0" indent="-28575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cleaned and converted into ML-ready format</a:t>
            </a:r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83B944D0-70BD-9972-214D-C80C8D67D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155" y="1193244"/>
            <a:ext cx="5711785" cy="381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6209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Machine Learning Models Evaluated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840480" cy="30175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565C0"/>
                </a:solidFill>
              </a:rPr>
              <a:t>Classical Models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Ridge Regression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Lasso Regression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Elastic Net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SVR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KNN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1097280"/>
            <a:ext cx="3840480" cy="301752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1887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897B"/>
                </a:solidFill>
              </a:rPr>
              <a:t>Ensemble Models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0" y="164592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Random Forest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Gradient Boosting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XGBoost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LightGBM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CatBoost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Results: Model Performance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C924B3E-3C45-D95D-DDC6-7CEE5603EE3B}"/>
              </a:ext>
            </a:extLst>
          </p:cNvPr>
          <p:cNvGrpSpPr/>
          <p:nvPr/>
        </p:nvGrpSpPr>
        <p:grpSpPr>
          <a:xfrm>
            <a:off x="491490" y="4137660"/>
            <a:ext cx="2263140" cy="731520"/>
            <a:chOff x="5760720" y="1188720"/>
            <a:chExt cx="2926080" cy="731520"/>
          </a:xfrm>
        </p:grpSpPr>
        <p:sp>
          <p:nvSpPr>
            <p:cNvPr id="5" name="Shape 2"/>
            <p:cNvSpPr/>
            <p:nvPr/>
          </p:nvSpPr>
          <p:spPr>
            <a:xfrm>
              <a:off x="5760720" y="1188720"/>
              <a:ext cx="2926080" cy="731520"/>
            </a:xfrm>
            <a:prstGeom prst="rect">
              <a:avLst/>
            </a:prstGeom>
            <a:solidFill>
              <a:srgbClr val="FFD5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 3"/>
            <p:cNvSpPr/>
            <p:nvPr/>
          </p:nvSpPr>
          <p:spPr>
            <a:xfrm>
              <a:off x="5852160" y="1280160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🥇 #1 XGBoost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R² = 0.82</a:t>
              </a:r>
              <a:endParaRPr lang="en-US" sz="1400" dirty="0"/>
            </a:p>
          </p:txBody>
        </p:sp>
      </p:grpSp>
      <p:sp>
        <p:nvSpPr>
          <p:cNvPr id="7" name="Shape 4"/>
          <p:cNvSpPr/>
          <p:nvPr/>
        </p:nvSpPr>
        <p:spPr>
          <a:xfrm>
            <a:off x="3166110" y="4126230"/>
            <a:ext cx="2480310" cy="697230"/>
          </a:xfrm>
          <a:prstGeom prst="rect">
            <a:avLst/>
          </a:prstGeom>
          <a:solidFill>
            <a:srgbClr val="C0C0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3314700" y="42748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🥈 #2 LightGBM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= 0.81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7900" y="4154805"/>
            <a:ext cx="2926080" cy="640080"/>
          </a:xfrm>
          <a:prstGeom prst="rect">
            <a:avLst/>
          </a:prstGeom>
          <a:solidFill>
            <a:srgbClr val="CD7F3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240780" y="42748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🥉 #3 CatBoost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R² = 0.80</a:t>
            </a:r>
            <a:endParaRPr lang="en-US" sz="130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CD7BDCD-4B4C-FFF2-635F-2F8A60C8E5CD}"/>
              </a:ext>
            </a:extLst>
          </p:cNvPr>
          <p:cNvGrpSpPr/>
          <p:nvPr/>
        </p:nvGrpSpPr>
        <p:grpSpPr>
          <a:xfrm>
            <a:off x="274320" y="4126230"/>
            <a:ext cx="2480310" cy="731520"/>
            <a:chOff x="5760720" y="1188720"/>
            <a:chExt cx="2926080" cy="731520"/>
          </a:xfrm>
        </p:grpSpPr>
        <p:sp>
          <p:nvSpPr>
            <p:cNvPr id="18" name="Shape 2">
              <a:extLst>
                <a:ext uri="{FF2B5EF4-FFF2-40B4-BE49-F238E27FC236}">
                  <a16:creationId xmlns:a16="http://schemas.microsoft.com/office/drawing/2014/main" id="{58FC2967-F08D-E7EE-CB96-3FAFA7C63AD2}"/>
                </a:ext>
              </a:extLst>
            </p:cNvPr>
            <p:cNvSpPr/>
            <p:nvPr/>
          </p:nvSpPr>
          <p:spPr>
            <a:xfrm>
              <a:off x="5760720" y="1188720"/>
              <a:ext cx="2926080" cy="731520"/>
            </a:xfrm>
            <a:prstGeom prst="rect">
              <a:avLst/>
            </a:prstGeom>
            <a:solidFill>
              <a:srgbClr val="FFD5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3">
              <a:extLst>
                <a:ext uri="{FF2B5EF4-FFF2-40B4-BE49-F238E27FC236}">
                  <a16:creationId xmlns:a16="http://schemas.microsoft.com/office/drawing/2014/main" id="{A2543E14-333E-4A7A-DB93-9CDBC5C8D589}"/>
                </a:ext>
              </a:extLst>
            </p:cNvPr>
            <p:cNvSpPr/>
            <p:nvPr/>
          </p:nvSpPr>
          <p:spPr>
            <a:xfrm>
              <a:off x="5852160" y="1280160"/>
              <a:ext cx="274320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🥇 #1 XGBoost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</a:rPr>
                <a:t>R² = 0.82</a:t>
              </a:r>
              <a:endParaRPr lang="en-US" sz="1400" dirty="0"/>
            </a:p>
          </p:txBody>
        </p: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606F5702-8FA6-9906-30E6-91B3BB5F5A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62" y="1118985"/>
            <a:ext cx="8240275" cy="29055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Feature Importance: SHAP Analysis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18872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188720"/>
            <a:ext cx="2697480" cy="16459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852160" y="1280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Top Predictors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852160" y="164592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1. LogP - Lipophilicity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2. Molecular Weight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3. H-Bond Acceptors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4. Aromatic Rings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5. TPSA</a:t>
            </a:r>
            <a:endParaRPr 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E3F4C2-84DB-2754-EF6D-AE574E8EFFE1}"/>
              </a:ext>
            </a:extLst>
          </p:cNvPr>
          <p:cNvSpPr txBox="1"/>
          <p:nvPr/>
        </p:nvSpPr>
        <p:spPr>
          <a:xfrm>
            <a:off x="2114550" y="3810655"/>
            <a:ext cx="604647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0" i="0" dirty="0">
                <a:effectLst/>
                <a:latin typeface="Google Sans"/>
              </a:rPr>
              <a:t>SHAP (</a:t>
            </a:r>
            <a:r>
              <a:rPr lang="en-US" b="0" i="0" dirty="0" err="1">
                <a:effectLst/>
                <a:latin typeface="Google Sans"/>
              </a:rPr>
              <a:t>SHapley</a:t>
            </a:r>
            <a:r>
              <a:rPr lang="en-US" b="0" i="0" dirty="0">
                <a:effectLst/>
                <a:latin typeface="Google Sans"/>
              </a:rPr>
              <a:t> Additive </a:t>
            </a:r>
            <a:r>
              <a:rPr lang="en-US" b="0" i="0" dirty="0" err="1">
                <a:effectLst/>
                <a:latin typeface="Google Sans"/>
              </a:rPr>
              <a:t>exPlanations</a:t>
            </a:r>
            <a:r>
              <a:rPr lang="en-US" b="0" i="0" dirty="0">
                <a:effectLst/>
                <a:latin typeface="Google Sans"/>
              </a:rPr>
              <a:t>) is </a:t>
            </a:r>
            <a:r>
              <a:rPr lang="en-US" dirty="0"/>
              <a:t>a game-theory-based method used to interpret machine learning models by assigning an importance value to each feature for a specific prediction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5500"/>
            <a:ext cx="65861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469"/>
              </a:lnSpc>
            </a:pPr>
            <a:r>
              <a:rPr lang="en-US" sz="2781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Deployment of Web-Based Application</a:t>
            </a:r>
            <a:endParaRPr lang="en-US" sz="2781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40557"/>
            <a:ext cx="5177582" cy="257733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3977358"/>
            <a:ext cx="517758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endParaRPr lang="en-US" sz="1094" dirty="0"/>
          </a:p>
        </p:txBody>
      </p:sp>
      <p:sp>
        <p:nvSpPr>
          <p:cNvPr id="5" name="Text 2"/>
          <p:cNvSpPr/>
          <p:nvPr/>
        </p:nvSpPr>
        <p:spPr>
          <a:xfrm>
            <a:off x="6024340" y="1459855"/>
            <a:ext cx="178742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Predicted Bioactivity</a:t>
            </a:r>
            <a:endParaRPr lang="en-US" sz="1375" dirty="0"/>
          </a:p>
        </p:txBody>
      </p:sp>
      <p:sp>
        <p:nvSpPr>
          <p:cNvPr id="6" name="Text 3"/>
          <p:cNvSpPr/>
          <p:nvPr/>
        </p:nvSpPr>
        <p:spPr>
          <a:xfrm>
            <a:off x="6024339" y="1823071"/>
            <a:ext cx="262823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Values generated for test molecules.</a:t>
            </a:r>
            <a:endParaRPr lang="en-US" sz="1094" dirty="0"/>
          </a:p>
        </p:txBody>
      </p:sp>
      <p:sp>
        <p:nvSpPr>
          <p:cNvPr id="7" name="Text 4"/>
          <p:cNvSpPr/>
          <p:nvPr/>
        </p:nvSpPr>
        <p:spPr>
          <a:xfrm>
            <a:off x="6024340" y="219164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Data Storage</a:t>
            </a:r>
            <a:endParaRPr lang="en-US" sz="1375" dirty="0"/>
          </a:p>
        </p:txBody>
      </p:sp>
      <p:sp>
        <p:nvSpPr>
          <p:cNvPr id="8" name="Text 5"/>
          <p:cNvSpPr/>
          <p:nvPr/>
        </p:nvSpPr>
        <p:spPr>
          <a:xfrm>
            <a:off x="6024339" y="2554859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Results stored efficiently in Excel format.</a:t>
            </a:r>
            <a:endParaRPr lang="en-US" sz="1094" dirty="0"/>
          </a:p>
        </p:txBody>
      </p:sp>
      <p:sp>
        <p:nvSpPr>
          <p:cNvPr id="9" name="Text 6"/>
          <p:cNvSpPr/>
          <p:nvPr/>
        </p:nvSpPr>
        <p:spPr>
          <a:xfrm>
            <a:off x="6024340" y="315024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19"/>
              </a:lnSpc>
            </a:pPr>
            <a:r>
              <a:rPr lang="en-US" sz="1375" dirty="0">
                <a:solidFill>
                  <a:srgbClr val="3A3A3A"/>
                </a:solidFill>
                <a:latin typeface="Noto Serif Medium" pitchFamily="34" charset="0"/>
                <a:ea typeface="Noto Serif Medium" pitchFamily="34" charset="-122"/>
                <a:cs typeface="Noto Serif Medium" pitchFamily="34" charset="-120"/>
              </a:rPr>
              <a:t>Model Efficacy</a:t>
            </a:r>
            <a:endParaRPr lang="en-US" sz="1375" dirty="0"/>
          </a:p>
        </p:txBody>
      </p:sp>
      <p:sp>
        <p:nvSpPr>
          <p:cNvPr id="10" name="Text 7"/>
          <p:cNvSpPr/>
          <p:nvPr/>
        </p:nvSpPr>
        <p:spPr>
          <a:xfrm>
            <a:off x="6024339" y="3513460"/>
            <a:ext cx="2628230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Model successfully predicts unseen compounds.</a:t>
            </a:r>
            <a:endParaRPr lang="en-US" sz="1094" dirty="0"/>
          </a:p>
        </p:txBody>
      </p:sp>
      <p:sp>
        <p:nvSpPr>
          <p:cNvPr id="11" name="Text 8"/>
          <p:cNvSpPr/>
          <p:nvPr/>
        </p:nvSpPr>
        <p:spPr>
          <a:xfrm>
            <a:off x="496119" y="4491187"/>
            <a:ext cx="8151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1781"/>
              </a:lnSpc>
            </a:pPr>
            <a:r>
              <a:rPr lang="en-US" sz="1094" dirty="0">
                <a:solidFill>
                  <a:srgbClr val="4C4C4C"/>
                </a:solidFill>
                <a:latin typeface="Noto Serif" pitchFamily="34" charset="0"/>
                <a:ea typeface="Noto Serif" pitchFamily="34" charset="-122"/>
                <a:cs typeface="Noto Serif" pitchFamily="34" charset="-120"/>
              </a:rPr>
              <a:t>The focus of this phase was pipeline development and prediction capability.</a:t>
            </a:r>
            <a:endParaRPr lang="en-US" sz="1094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9B4C05-3FE7-FB9A-AE8C-0301E96DBA33}"/>
              </a:ext>
            </a:extLst>
          </p:cNvPr>
          <p:cNvSpPr/>
          <p:nvPr/>
        </p:nvSpPr>
        <p:spPr>
          <a:xfrm>
            <a:off x="7811766" y="4799559"/>
            <a:ext cx="1240794" cy="28701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633ACA-864F-18DA-5C2E-CBC2AF0611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3539"/>
            <a:ext cx="9144000" cy="428996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BDF6ECC-0BA2-93FE-D427-9540A7DC0A04}"/>
              </a:ext>
            </a:extLst>
          </p:cNvPr>
          <p:cNvSpPr txBox="1"/>
          <p:nvPr/>
        </p:nvSpPr>
        <p:spPr>
          <a:xfrm>
            <a:off x="3017520" y="367546"/>
            <a:ext cx="41033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badi" panose="020B0604020104020204" pitchFamily="34" charset="0"/>
              </a:rPr>
              <a:t>Testing with smaller input smiles</a:t>
            </a:r>
          </a:p>
        </p:txBody>
      </p:sp>
    </p:spTree>
    <p:extLst>
      <p:ext uri="{BB962C8B-B14F-4D97-AF65-F5344CB8AC3E}">
        <p14:creationId xmlns:p14="http://schemas.microsoft.com/office/powerpoint/2010/main" val="411005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Validation &amp; Impact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18872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565C0"/>
                </a:solidFill>
              </a:rPr>
              <a:t>Comprehensive Validation  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5-fold CV (R² = 0.81 ± 0.03)  • External test set (15%)  • Y-randomization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Temporal validation  • Scaffold splitting  • Applicability domain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560320"/>
            <a:ext cx="3840480" cy="1463040"/>
          </a:xfrm>
          <a:prstGeom prst="rect">
            <a:avLst/>
          </a:prstGeom>
          <a:solidFill>
            <a:srgbClr val="E8F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897B"/>
                </a:solidFill>
              </a:rPr>
              <a:t>Scientific Impact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Largest sEH QSAR study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Interpretable SAR insights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Natural product validation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46320" y="2560320"/>
            <a:ext cx="3840480" cy="146304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6517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</a:rPr>
              <a:t>Practical Impact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3017520"/>
            <a:ext cx="3474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10-100× faster screening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Cost: $0-300 vs $1M+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12121"/>
                </a:solidFill>
              </a:rPr>
              <a:t>• Ready for predictions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565C0"/>
                </a:solidFill>
              </a:rPr>
              <a:t>Conclusions &amp; Future Directions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274320" y="86868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1188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  Key Conclusions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XGBoost achieved R² = 0.82  • LogP most critical feature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Validated across 6 tests  • Ready for virtual screening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468880"/>
            <a:ext cx="3840480" cy="1554480"/>
          </a:xfrm>
          <a:prstGeom prst="rect">
            <a:avLst/>
          </a:prstGeom>
          <a:solidFill>
            <a:srgbClr val="E3F2F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4864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Enhanced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Molecular Docking (500)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MD Simulations (100×200ns)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FEP (top 30)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Novel AI (GNN, PINN)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2468880"/>
            <a:ext cx="3840480" cy="155448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2560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6F00"/>
                </a:solidFill>
              </a:rPr>
              <a:t>Target Journals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292608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J Chem Inf Model (IF 5.6)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Mol Pharmaceutics (IF 4.5)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12121"/>
                </a:solidFill>
              </a:rPr>
              <a:t>• Comp Struct Biotech (IF 6.0)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DECF8A-43F8-E950-6447-A246E4CDB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D27D46F-9E18-F93D-C639-2163049E51F3}"/>
              </a:ext>
            </a:extLst>
          </p:cNvPr>
          <p:cNvSpPr/>
          <p:nvPr/>
        </p:nvSpPr>
        <p:spPr>
          <a:xfrm>
            <a:off x="1954530" y="228600"/>
            <a:ext cx="7189470" cy="4457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</a:rPr>
              <a:t>Updated pipeline </a:t>
            </a:r>
            <a:r>
              <a:rPr lang="en-US" b="1" dirty="0">
                <a:solidFill>
                  <a:srgbClr val="1565C0"/>
                </a:solidFill>
              </a:rPr>
              <a:t>(Implementing Further Validation)</a:t>
            </a:r>
            <a:endParaRPr lang="en-US" sz="28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B32EAA96-B594-3E8E-65B5-E952EAAA93D6}"/>
              </a:ext>
            </a:extLst>
          </p:cNvPr>
          <p:cNvSpPr/>
          <p:nvPr/>
        </p:nvSpPr>
        <p:spPr>
          <a:xfrm>
            <a:off x="45720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D599DD4-6ED9-9B7D-1098-A680852E95E2}"/>
              </a:ext>
            </a:extLst>
          </p:cNvPr>
          <p:cNvSpPr/>
          <p:nvPr/>
        </p:nvSpPr>
        <p:spPr>
          <a:xfrm>
            <a:off x="45720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F235B1C1-B6EB-EB6A-041D-DA319CA8A852}"/>
              </a:ext>
            </a:extLst>
          </p:cNvPr>
          <p:cNvSpPr/>
          <p:nvPr/>
        </p:nvSpPr>
        <p:spPr>
          <a:xfrm>
            <a:off x="457200" y="25603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414D5CA-D785-3D59-5664-419D7FDE224C}"/>
              </a:ext>
            </a:extLst>
          </p:cNvPr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40C4E69B-6833-20EB-CA9F-E72A6E9F7C75}"/>
              </a:ext>
            </a:extLst>
          </p:cNvPr>
          <p:cNvSpPr/>
          <p:nvPr/>
        </p:nvSpPr>
        <p:spPr>
          <a:xfrm>
            <a:off x="45720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graphicFrame>
        <p:nvGraphicFramePr>
          <p:cNvPr id="21" name="Diagram 20">
            <a:extLst>
              <a:ext uri="{FF2B5EF4-FFF2-40B4-BE49-F238E27FC236}">
                <a16:creationId xmlns:a16="http://schemas.microsoft.com/office/drawing/2014/main" id="{BA4EC599-1B1F-F285-D246-741C324029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1224359"/>
              </p:ext>
            </p:extLst>
          </p:nvPr>
        </p:nvGraphicFramePr>
        <p:xfrm>
          <a:off x="148590" y="674370"/>
          <a:ext cx="9384030" cy="48806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84075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719DC6-8008-FE7B-943E-10E14790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F51EFDF-3420-9807-F7F1-A1DA7A723AE2}"/>
              </a:ext>
            </a:extLst>
          </p:cNvPr>
          <p:cNvSpPr txBox="1"/>
          <p:nvPr/>
        </p:nvSpPr>
        <p:spPr>
          <a:xfrm>
            <a:off x="2520315" y="323672"/>
            <a:ext cx="4103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Achieved Progress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F1FC8D-9D9D-AC95-55B7-E98C0E2C773F}"/>
              </a:ext>
            </a:extLst>
          </p:cNvPr>
          <p:cNvSpPr/>
          <p:nvPr/>
        </p:nvSpPr>
        <p:spPr>
          <a:xfrm>
            <a:off x="8058150" y="4789170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6D560-56A4-4372-AAE6-A4BEB9499B4D}"/>
              </a:ext>
            </a:extLst>
          </p:cNvPr>
          <p:cNvSpPr txBox="1"/>
          <p:nvPr/>
        </p:nvSpPr>
        <p:spPr>
          <a:xfrm>
            <a:off x="674370" y="1067888"/>
            <a:ext cx="7795260" cy="3892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Collected </a:t>
            </a:r>
            <a:r>
              <a:rPr lang="en-US" dirty="0" err="1"/>
              <a:t>sEH</a:t>
            </a:r>
            <a:r>
              <a:rPr lang="en-US" dirty="0"/>
              <a:t> inhibitor dataset from </a:t>
            </a:r>
            <a:r>
              <a:rPr lang="en-US" b="1" dirty="0" err="1"/>
              <a:t>ChEMBL</a:t>
            </a:r>
            <a:r>
              <a:rPr lang="en-US" b="1" dirty="0"/>
              <a:t>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Generated </a:t>
            </a:r>
            <a:r>
              <a:rPr lang="en-US" b="1" dirty="0"/>
              <a:t>~2200 molecular descriptors.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Developed </a:t>
            </a:r>
            <a:r>
              <a:rPr lang="en-US" b="1" dirty="0"/>
              <a:t>QSAR model for pIC50 prediction.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Performed </a:t>
            </a:r>
            <a:r>
              <a:rPr lang="en-US" b="1" dirty="0"/>
              <a:t>virtual screening of compound library.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Identified </a:t>
            </a:r>
            <a:r>
              <a:rPr lang="en-US" b="1" dirty="0"/>
              <a:t>top candidate inhibitors using docking and ADMET filters.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dirty="0"/>
              <a:t>Prepared </a:t>
            </a:r>
            <a:r>
              <a:rPr lang="en-US" b="1" dirty="0"/>
              <a:t>top hits for molecular dynamics simulations</a:t>
            </a:r>
          </a:p>
          <a:p>
            <a:pPr marL="285750" indent="-28575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endParaRPr lang="en-US" dirty="0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B1A70A72-B327-1283-134D-0A4B2AD436FD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7903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34D51-D95A-84CE-5F3C-086FDEC37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2723B18-C3CD-0060-0336-A74C520ED6FF}"/>
              </a:ext>
            </a:extLst>
          </p:cNvPr>
          <p:cNvSpPr txBox="1"/>
          <p:nvPr/>
        </p:nvSpPr>
        <p:spPr>
          <a:xfrm>
            <a:off x="2520315" y="323672"/>
            <a:ext cx="41033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Achieved Progress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3485ED-603A-C330-FDF5-C1C4E636C0DE}"/>
              </a:ext>
            </a:extLst>
          </p:cNvPr>
          <p:cNvSpPr/>
          <p:nvPr/>
        </p:nvSpPr>
        <p:spPr>
          <a:xfrm>
            <a:off x="8058150" y="4789170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9F5E1A3-C721-4B1D-E63E-0B2BFA42E546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27F7D5A-D9C0-E92D-406B-2942EBE30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770" y="1193041"/>
            <a:ext cx="7383780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QSAR model successfully trained and validated.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selected as best model</a:t>
            </a:r>
            <a:r>
              <a:rPr lang="en-US" altLang="en-US" dirty="0">
                <a:latin typeface="Arial" panose="020B0604020202020204" pitchFamily="34" charset="0"/>
              </a:rPr>
              <a:t> and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used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large-scale virtual screening.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results exported for downstream analysis.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FB643B-9EB9-1B0A-7F0B-1C5D0F2F6280}"/>
              </a:ext>
            </a:extLst>
          </p:cNvPr>
          <p:cNvSpPr txBox="1"/>
          <p:nvPr/>
        </p:nvSpPr>
        <p:spPr>
          <a:xfrm>
            <a:off x="2606041" y="3293689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Output Files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ACA94697-A033-7149-DC39-3C0EAB322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0315" y="3617510"/>
            <a:ext cx="3440430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seh_model_XGBoost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_*.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pkl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seh_cv_results_*.csv</a:t>
            </a: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seh_metrics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_*.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json</a:t>
            </a: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93611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DF174-0058-D6AA-92EA-37A5D239A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E7C26AA-C831-E653-2B1B-BE4A6B257968}"/>
              </a:ext>
            </a:extLst>
          </p:cNvPr>
          <p:cNvSpPr txBox="1"/>
          <p:nvPr/>
        </p:nvSpPr>
        <p:spPr>
          <a:xfrm>
            <a:off x="1868805" y="313789"/>
            <a:ext cx="5960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Virtual Screening Progress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4315D35-59E6-88C7-287F-5A374C31C174}"/>
              </a:ext>
            </a:extLst>
          </p:cNvPr>
          <p:cNvSpPr/>
          <p:nvPr/>
        </p:nvSpPr>
        <p:spPr>
          <a:xfrm>
            <a:off x="8012430" y="4749191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2D710217-048F-F22F-F804-22E567027A78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9313D0-547A-8DA1-0048-26CAB66F3EAD}"/>
              </a:ext>
            </a:extLst>
          </p:cNvPr>
          <p:cNvSpPr txBox="1"/>
          <p:nvPr/>
        </p:nvSpPr>
        <p:spPr>
          <a:xfrm>
            <a:off x="628651" y="3587516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Output Files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2830E73-7D7F-5191-88DA-9E1BE27282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4390" y="3890599"/>
            <a:ext cx="3440430" cy="791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dirty="0"/>
              <a:t>step1_all_predictions.csv</a:t>
            </a:r>
          </a:p>
          <a:p>
            <a:pPr marL="342900" lvl="0" indent="-3429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lang="en-US" sz="1600" dirty="0"/>
              <a:t>step2_top100_qsar.csv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C117B-BD86-2788-B5C1-4F9DD15E647B}"/>
              </a:ext>
            </a:extLst>
          </p:cNvPr>
          <p:cNvSpPr txBox="1"/>
          <p:nvPr/>
        </p:nvSpPr>
        <p:spPr>
          <a:xfrm>
            <a:off x="2547460" y="1340835"/>
            <a:ext cx="4603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Virtual Screening of Compound Library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D0CC4DD7-2E2D-BE06-C964-A94D19F0C23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925830" y="1988018"/>
            <a:ext cx="9326880" cy="115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Trained QSAR model used to screen compound library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Bioactivity predictions generated for all compounds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Compounds ranked based 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predicted pIC50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CA7633-F64F-31DA-5756-F3CF8E786225}"/>
              </a:ext>
            </a:extLst>
          </p:cNvPr>
          <p:cNvSpPr txBox="1"/>
          <p:nvPr/>
        </p:nvSpPr>
        <p:spPr>
          <a:xfrm>
            <a:off x="5189220" y="3589822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Outcome</a:t>
            </a: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BCF84AD9-1640-46E2-6C98-54BC06C9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9210" y="3890598"/>
            <a:ext cx="3440430" cy="7911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Top </a:t>
            </a:r>
            <a:r>
              <a:rPr lang="en-US" sz="1600" b="1" dirty="0"/>
              <a:t>100 compounds shortlisted</a:t>
            </a:r>
            <a:r>
              <a:rPr lang="en-US" sz="1600" dirty="0"/>
              <a:t> for docking analysis.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3573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33D24-1C1A-CE3F-201C-37665DC13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07CD44-39A5-7734-31A7-F397DEA6FBF9}"/>
              </a:ext>
            </a:extLst>
          </p:cNvPr>
          <p:cNvSpPr txBox="1"/>
          <p:nvPr/>
        </p:nvSpPr>
        <p:spPr>
          <a:xfrm>
            <a:off x="1868805" y="313789"/>
            <a:ext cx="5960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Molecular Docking Results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C1830A-BAD5-3A0A-C4D7-F4C7E6FDF838}"/>
              </a:ext>
            </a:extLst>
          </p:cNvPr>
          <p:cNvSpPr/>
          <p:nvPr/>
        </p:nvSpPr>
        <p:spPr>
          <a:xfrm>
            <a:off x="8012430" y="4749191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F7C4E24-1E1B-9E32-63B8-564F03E54176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D4E1CD-BEAF-0CCA-E984-0190B24EA584}"/>
              </a:ext>
            </a:extLst>
          </p:cNvPr>
          <p:cNvSpPr txBox="1"/>
          <p:nvPr/>
        </p:nvSpPr>
        <p:spPr>
          <a:xfrm>
            <a:off x="628651" y="3587516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Output File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16329BC-4EDE-8087-FF7C-BF3774B9B9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1" y="3951341"/>
            <a:ext cx="3440430" cy="42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step3_docking_results.csv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EC01D9-46DA-66FA-31DA-15A37F2790C4}"/>
              </a:ext>
            </a:extLst>
          </p:cNvPr>
          <p:cNvSpPr txBox="1"/>
          <p:nvPr/>
        </p:nvSpPr>
        <p:spPr>
          <a:xfrm>
            <a:off x="2270283" y="1060841"/>
            <a:ext cx="4603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/>
              <a:t>Docking Analysis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199304D-E806-5B4C-3D80-C8DE84AB2FF6}"/>
              </a:ext>
            </a:extLst>
          </p:cNvPr>
          <p:cNvSpPr txBox="1"/>
          <p:nvPr/>
        </p:nvSpPr>
        <p:spPr>
          <a:xfrm>
            <a:off x="5189220" y="3558755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Outcome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83B4B3-C1AE-0EF2-A39F-ADD85FA7E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" y="1485830"/>
            <a:ext cx="8961120" cy="12875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Docking performed against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sEH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protein structure (PDB: 3ANS)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Docking executed using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AutoDock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Vina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Binding affinity calculated for shortlisted compounds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7817403B-E956-0FBE-F0FD-35B1C3FC305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972625" y="3928087"/>
            <a:ext cx="3802182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cs typeface="Arial" panose="020B0604020202020204" pitchFamily="34" charset="0"/>
              </a:rPr>
              <a:t>Compounds were ranked based on docking score and strong binding interactions were identified for top hits.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5714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031BA4-3B48-0F1E-D860-577F3BCAA1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0FA2DD-85FE-FEBC-7994-FDB01AAF2E14}"/>
              </a:ext>
            </a:extLst>
          </p:cNvPr>
          <p:cNvSpPr txBox="1"/>
          <p:nvPr/>
        </p:nvSpPr>
        <p:spPr>
          <a:xfrm>
            <a:off x="1868805" y="313789"/>
            <a:ext cx="5960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ADMET Filtering Analysis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E4A1F5C-D33A-F58B-E0C0-43078368E352}"/>
              </a:ext>
            </a:extLst>
          </p:cNvPr>
          <p:cNvSpPr/>
          <p:nvPr/>
        </p:nvSpPr>
        <p:spPr>
          <a:xfrm>
            <a:off x="8012430" y="4749191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52BF194D-6391-1E9A-DAAC-728C94B0EA39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FD99020-35F8-D443-7CC0-F5E75F46D581}"/>
              </a:ext>
            </a:extLst>
          </p:cNvPr>
          <p:cNvSpPr txBox="1"/>
          <p:nvPr/>
        </p:nvSpPr>
        <p:spPr>
          <a:xfrm>
            <a:off x="628651" y="4082659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Output File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5EA9A07A-5F3E-A623-4C50-D3BDDE574C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631" y="4362821"/>
            <a:ext cx="3440430" cy="42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step4_admet_filtered.csv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9FACE-E1CA-B364-063D-4BE6AE8CC070}"/>
              </a:ext>
            </a:extLst>
          </p:cNvPr>
          <p:cNvSpPr txBox="1"/>
          <p:nvPr/>
        </p:nvSpPr>
        <p:spPr>
          <a:xfrm>
            <a:off x="2270283" y="1060841"/>
            <a:ext cx="4603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Drug-Likeness and ADMET Filtering</a:t>
            </a:r>
            <a:endParaRPr lang="en-US" sz="20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DC040FB-9356-2074-CA8D-0AF6C15D81FC}"/>
              </a:ext>
            </a:extLst>
          </p:cNvPr>
          <p:cNvSpPr txBox="1"/>
          <p:nvPr/>
        </p:nvSpPr>
        <p:spPr>
          <a:xfrm>
            <a:off x="5189220" y="4004297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/>
              <a:t>Outcome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34EEEEE-4CBB-FA56-2268-6A95DF3EA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8660" y="1407123"/>
            <a:ext cx="8961120" cy="2542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/>
              <a:t>Drug-Likeness Filters Applied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Lipinski Rule of Five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Veber Rule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PAINS filters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Brenk alerts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Synthetic accessibility</a:t>
            </a: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CEB3FDCA-76C7-E59F-602F-2CF3BE4A42CA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4764028" y="4282157"/>
            <a:ext cx="432282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Compounds passing ADMET filters were selected and ranked using a composite scoring scheme.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2995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787E9-5157-E0B5-162D-0EC8604F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431CFE7-0AE9-85E0-9A5B-F9150979C3D6}"/>
              </a:ext>
            </a:extLst>
          </p:cNvPr>
          <p:cNvSpPr txBox="1"/>
          <p:nvPr/>
        </p:nvSpPr>
        <p:spPr>
          <a:xfrm>
            <a:off x="1868805" y="313789"/>
            <a:ext cx="596074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Top Candidate Compounds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02FC12-B3CA-F471-1B01-908BA9E224EA}"/>
              </a:ext>
            </a:extLst>
          </p:cNvPr>
          <p:cNvSpPr/>
          <p:nvPr/>
        </p:nvSpPr>
        <p:spPr>
          <a:xfrm>
            <a:off x="8012430" y="4749191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9520F197-A2A2-7922-58D0-1C02EBBE7B76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64B704-F532-3051-235E-121A70F33E38}"/>
              </a:ext>
            </a:extLst>
          </p:cNvPr>
          <p:cNvSpPr txBox="1"/>
          <p:nvPr/>
        </p:nvSpPr>
        <p:spPr>
          <a:xfrm>
            <a:off x="-548639" y="1261402"/>
            <a:ext cx="31203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Output File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B15E36F6-06BA-8F56-4966-B1A94F338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48589" y="1468325"/>
            <a:ext cx="3440430" cy="4234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ctr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600" dirty="0"/>
              <a:t>step4_admet_filtered.csv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0AB59B-B8A8-B10C-C0C7-1F4270917BE3}"/>
              </a:ext>
            </a:extLst>
          </p:cNvPr>
          <p:cNvSpPr txBox="1"/>
          <p:nvPr/>
        </p:nvSpPr>
        <p:spPr>
          <a:xfrm>
            <a:off x="2270283" y="1060841"/>
            <a:ext cx="460343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Top Predicted </a:t>
            </a:r>
            <a:r>
              <a:rPr lang="en-US" sz="2000" dirty="0" err="1"/>
              <a:t>sEH</a:t>
            </a:r>
            <a:r>
              <a:rPr lang="en-US" sz="2000" dirty="0"/>
              <a:t> Inhibitors</a:t>
            </a:r>
            <a:endParaRPr lang="en-US" sz="2000" b="1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B3AE6052-E2F6-7058-F76A-0FBC6CDD5C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4959783"/>
              </p:ext>
            </p:extLst>
          </p:nvPr>
        </p:nvGraphicFramePr>
        <p:xfrm>
          <a:off x="468631" y="2183102"/>
          <a:ext cx="8046720" cy="2854342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1609344">
                  <a:extLst>
                    <a:ext uri="{9D8B030D-6E8A-4147-A177-3AD203B41FA5}">
                      <a16:colId xmlns:a16="http://schemas.microsoft.com/office/drawing/2014/main" val="139259516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1124321857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3078826892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792848134"/>
                    </a:ext>
                  </a:extLst>
                </a:gridCol>
                <a:gridCol w="1609344">
                  <a:extLst>
                    <a:ext uri="{9D8B030D-6E8A-4147-A177-3AD203B41FA5}">
                      <a16:colId xmlns:a16="http://schemas.microsoft.com/office/drawing/2014/main" val="511718027"/>
                    </a:ext>
                  </a:extLst>
                </a:gridCol>
              </a:tblGrid>
              <a:tr h="768476">
                <a:tc gridSpan="5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/>
                        <a:t>Top candidates were selected based on predicted potency,</a:t>
                      </a:r>
                    </a:p>
                    <a:p>
                      <a:pPr algn="ctr">
                        <a:buNone/>
                      </a:pPr>
                      <a:r>
                        <a:rPr lang="en-US" b="1" dirty="0"/>
                        <a:t>docking affinity, and composite ranking.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3024457"/>
                  </a:ext>
                </a:extLst>
              </a:tr>
              <a:tr h="7684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Compound ID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Predicted pIC50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Predicted IC50 (</a:t>
                      </a:r>
                      <a:r>
                        <a:rPr lang="en-US" dirty="0" err="1"/>
                        <a:t>nM</a:t>
                      </a:r>
                      <a:r>
                        <a:rPr lang="en-US" dirty="0"/>
                        <a:t>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Docking Score (kcal/mol)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Composite Score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057792"/>
                  </a:ext>
                </a:extLst>
              </a:tr>
              <a:tr h="439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CNP0035465.1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9.03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0.92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-7.51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0.8468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450585"/>
                  </a:ext>
                </a:extLst>
              </a:tr>
              <a:tr h="439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CNP0032988.1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8.93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1.19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-7.59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0.7749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18632535"/>
                  </a:ext>
                </a:extLst>
              </a:tr>
              <a:tr h="43913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CNP0036054.1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8.86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1.40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-7.63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0.7242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0703821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54144BCA-DFD3-2405-1051-CB7619745D3D}"/>
              </a:ext>
            </a:extLst>
          </p:cNvPr>
          <p:cNvSpPr txBox="1"/>
          <p:nvPr/>
        </p:nvSpPr>
        <p:spPr>
          <a:xfrm>
            <a:off x="2922637" y="1418439"/>
            <a:ext cx="58247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/>
              <a:t>These compounds were selected based on high predicted potency (pIC50), strong docking affinity, and favorable ADMET properties.</a:t>
            </a:r>
          </a:p>
        </p:txBody>
      </p:sp>
    </p:spTree>
    <p:extLst>
      <p:ext uri="{BB962C8B-B14F-4D97-AF65-F5344CB8AC3E}">
        <p14:creationId xmlns:p14="http://schemas.microsoft.com/office/powerpoint/2010/main" val="1124920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91319-CA39-17BB-401F-7C3D716F59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574142D-AE3D-BA7E-5CB4-43EB2D165DFB}"/>
              </a:ext>
            </a:extLst>
          </p:cNvPr>
          <p:cNvSpPr txBox="1"/>
          <p:nvPr/>
        </p:nvSpPr>
        <p:spPr>
          <a:xfrm>
            <a:off x="1651635" y="313789"/>
            <a:ext cx="6360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Further Required Progress…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A8AEC84-5F64-CAAD-247C-746653E238CA}"/>
              </a:ext>
            </a:extLst>
          </p:cNvPr>
          <p:cNvSpPr/>
          <p:nvPr/>
        </p:nvSpPr>
        <p:spPr>
          <a:xfrm>
            <a:off x="8012430" y="4749191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80460758-4C9F-6611-C4F9-EF8BA0A229EA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512527-DF00-B420-4999-6A1115649C1B}"/>
              </a:ext>
            </a:extLst>
          </p:cNvPr>
          <p:cNvSpPr txBox="1"/>
          <p:nvPr/>
        </p:nvSpPr>
        <p:spPr>
          <a:xfrm>
            <a:off x="365725" y="1314399"/>
            <a:ext cx="8932613" cy="27847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dirty="0"/>
              <a:t>Perform molecular dynamics simulations using GROMACS to evaluate binding stability of the top candidate inhibitors (RMSD, RMSF, and hydrogen bond analysis).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b="1" dirty="0"/>
              <a:t>GROMACS (</a:t>
            </a:r>
            <a:r>
              <a:rPr lang="en-US" b="1" dirty="0" err="1"/>
              <a:t>GROningen</a:t>
            </a:r>
            <a:r>
              <a:rPr lang="en-US" b="1" dirty="0"/>
              <a:t> </a:t>
            </a:r>
            <a:r>
              <a:rPr lang="en-US" b="1" dirty="0" err="1"/>
              <a:t>MAchine</a:t>
            </a:r>
            <a:r>
              <a:rPr lang="en-US" b="1" dirty="0"/>
              <a:t> for Chemical Simulations)</a:t>
            </a:r>
            <a:r>
              <a:rPr lang="en-US" dirty="0"/>
              <a:t> is an open-source software package used to perform molecular dynamics simulations of proteins, lipids, and other biomolecular systems.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91E8336-1E3C-0CB7-CA70-5416F6756C13}"/>
              </a:ext>
            </a:extLst>
          </p:cNvPr>
          <p:cNvSpPr/>
          <p:nvPr/>
        </p:nvSpPr>
        <p:spPr>
          <a:xfrm>
            <a:off x="837282" y="4356582"/>
            <a:ext cx="7601637" cy="36173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CD62761-0A2C-7829-08C2-CD03D8102868}"/>
              </a:ext>
            </a:extLst>
          </p:cNvPr>
          <p:cNvSpPr txBox="1"/>
          <p:nvPr/>
        </p:nvSpPr>
        <p:spPr>
          <a:xfrm>
            <a:off x="837282" y="4352786"/>
            <a:ext cx="78926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Protein (</a:t>
            </a:r>
            <a:r>
              <a:rPr lang="en-US" dirty="0" err="1"/>
              <a:t>sEH</a:t>
            </a:r>
            <a:r>
              <a:rPr lang="en-US" dirty="0"/>
              <a:t> – PDB: 3ANS) + Top ligand compound = </a:t>
            </a:r>
            <a:r>
              <a:rPr lang="en-US" b="1" dirty="0"/>
              <a:t>complex.pdb</a:t>
            </a:r>
            <a:r>
              <a:rPr lang="en-US" dirty="0"/>
              <a:t> for GROMACS</a:t>
            </a:r>
          </a:p>
        </p:txBody>
      </p:sp>
      <p:pic>
        <p:nvPicPr>
          <p:cNvPr id="28" name="Graphic 27" descr="Badge New with solid fill">
            <a:extLst>
              <a:ext uri="{FF2B5EF4-FFF2-40B4-BE49-F238E27FC236}">
                <a16:creationId xmlns:a16="http://schemas.microsoft.com/office/drawing/2014/main" id="{4F4695B9-7A59-71F0-FFBD-BF4D84BCF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6063" y="4366571"/>
            <a:ext cx="339356" cy="33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23246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28552-CFFE-C39F-6C92-6FEC41FC1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CFC4A73-DC84-AFEB-BBF7-EC718ADC5E07}"/>
              </a:ext>
            </a:extLst>
          </p:cNvPr>
          <p:cNvSpPr txBox="1"/>
          <p:nvPr/>
        </p:nvSpPr>
        <p:spPr>
          <a:xfrm>
            <a:off x="1651635" y="313789"/>
            <a:ext cx="63607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  <a:latin typeface="Abadi" panose="020B0604020104020204" pitchFamily="34" charset="0"/>
              </a:rPr>
              <a:t>Further Required Progress…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BD2024-6996-9E22-4E16-D70DE17AF862}"/>
              </a:ext>
            </a:extLst>
          </p:cNvPr>
          <p:cNvSpPr/>
          <p:nvPr/>
        </p:nvSpPr>
        <p:spPr>
          <a:xfrm>
            <a:off x="8012430" y="4749191"/>
            <a:ext cx="1074420" cy="3429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353917F1-D72B-218E-0977-C93EFA177FDD}"/>
              </a:ext>
            </a:extLst>
          </p:cNvPr>
          <p:cNvSpPr/>
          <p:nvPr/>
        </p:nvSpPr>
        <p:spPr>
          <a:xfrm>
            <a:off x="274320" y="937260"/>
            <a:ext cx="8595360" cy="45720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8A89CB-30F3-9682-8166-E6736F2A4A6B}"/>
              </a:ext>
            </a:extLst>
          </p:cNvPr>
          <p:cNvSpPr txBox="1"/>
          <p:nvPr/>
        </p:nvSpPr>
        <p:spPr>
          <a:xfrm>
            <a:off x="365725" y="1189344"/>
            <a:ext cx="8932613" cy="167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dirty="0"/>
              <a:t>Purpose: Evaluate stability of protein–ligand complex.</a:t>
            </a:r>
          </a:p>
          <a:p>
            <a:pPr>
              <a:lnSpc>
                <a:spcPct val="200000"/>
              </a:lnSpc>
            </a:pPr>
            <a:r>
              <a:rPr lang="en-US" dirty="0"/>
              <a:t>Software: GROMACS (</a:t>
            </a:r>
            <a:r>
              <a:rPr lang="en-US" dirty="0" err="1"/>
              <a:t>GROningen</a:t>
            </a:r>
            <a:r>
              <a:rPr lang="en-US" dirty="0"/>
              <a:t> </a:t>
            </a:r>
            <a:r>
              <a:rPr lang="en-US" dirty="0" err="1"/>
              <a:t>MAchine</a:t>
            </a:r>
            <a:r>
              <a:rPr lang="en-US" dirty="0"/>
              <a:t> for Chemical Simulations)</a:t>
            </a:r>
          </a:p>
          <a:p>
            <a:pPr>
              <a:lnSpc>
                <a:spcPct val="200000"/>
              </a:lnSpc>
            </a:pPr>
            <a:r>
              <a:rPr lang="en-US" dirty="0"/>
              <a:t>Analysis: RMSD,RMSF and Hydrogen bond analysis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07FCDC-17CC-95A1-CB7B-23199C9A78A7}"/>
              </a:ext>
            </a:extLst>
          </p:cNvPr>
          <p:cNvSpPr txBox="1"/>
          <p:nvPr/>
        </p:nvSpPr>
        <p:spPr>
          <a:xfrm>
            <a:off x="365725" y="3041965"/>
            <a:ext cx="4649118" cy="1572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Recommended Compounds for MD</a:t>
            </a:r>
          </a:p>
          <a:p>
            <a:pPr>
              <a:lnSpc>
                <a:spcPct val="150000"/>
              </a:lnSpc>
            </a:pPr>
            <a:r>
              <a:rPr lang="en-US" dirty="0"/>
              <a:t>• CNP0035465.1</a:t>
            </a:r>
          </a:p>
          <a:p>
            <a:pPr>
              <a:lnSpc>
                <a:spcPct val="150000"/>
              </a:lnSpc>
            </a:pPr>
            <a:r>
              <a:rPr lang="en-US" dirty="0"/>
              <a:t>• CNP0032988.1</a:t>
            </a:r>
          </a:p>
          <a:p>
            <a:pPr>
              <a:lnSpc>
                <a:spcPct val="150000"/>
              </a:lnSpc>
            </a:pPr>
            <a:r>
              <a:rPr lang="en-US" dirty="0"/>
              <a:t>• CNP0036054.1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EA3FA2-8D35-17D4-4549-55A517C30B0E}"/>
              </a:ext>
            </a:extLst>
          </p:cNvPr>
          <p:cNvSpPr txBox="1"/>
          <p:nvPr/>
        </p:nvSpPr>
        <p:spPr>
          <a:xfrm>
            <a:off x="2507471" y="4215425"/>
            <a:ext cx="60085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Protein (PDB: 3ANS) + ligand → complex.pdb for GROMACS</a:t>
            </a:r>
          </a:p>
        </p:txBody>
      </p:sp>
    </p:spTree>
    <p:extLst>
      <p:ext uri="{BB962C8B-B14F-4D97-AF65-F5344CB8AC3E}">
        <p14:creationId xmlns:p14="http://schemas.microsoft.com/office/powerpoint/2010/main" val="21745923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DED8C1E-C062-5013-B5F5-EC4BF6D3F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57956" y="482600"/>
            <a:ext cx="7428087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D2591E-8BBC-6432-CEAC-45A5357ECE5B}"/>
              </a:ext>
            </a:extLst>
          </p:cNvPr>
          <p:cNvSpPr txBox="1"/>
          <p:nvPr/>
        </p:nvSpPr>
        <p:spPr>
          <a:xfrm>
            <a:off x="3406140" y="3188970"/>
            <a:ext cx="228549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M. Ramana Maharshi</a:t>
            </a:r>
          </a:p>
        </p:txBody>
      </p:sp>
    </p:spTree>
    <p:extLst>
      <p:ext uri="{BB962C8B-B14F-4D97-AF65-F5344CB8AC3E}">
        <p14:creationId xmlns:p14="http://schemas.microsoft.com/office/powerpoint/2010/main" val="37852435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  <wetp:taskpane dockstate="right" visibility="0" width="350" row="3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337D7A8-1824-4AAB-B0B3-A90253CAF16F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9FB30865-F58D-4595-A56A-71BEC59F6B13}">
  <we:reference id="wa200006038" version="1.0.0.5" store="en-US" storeType="OMEX"/>
  <we:alternateReferences>
    <we:reference id="WA200006038" version="1.0.0.5" store="WA200006038" storeType="OMEX"/>
  </we:alternateReferences>
  <we:properties>
    <we:property name="pptx_export_from_biorender" value="false"/>
  </we:properties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Taskpane.Url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190</TotalTime>
  <Words>1188</Words>
  <Application>Microsoft Office PowerPoint</Application>
  <PresentationFormat>On-screen Show (16:9)</PresentationFormat>
  <Paragraphs>250</Paragraphs>
  <Slides>23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Abadi</vt:lpstr>
      <vt:lpstr>Arial</vt:lpstr>
      <vt:lpstr>Google Sans</vt:lpstr>
      <vt:lpstr>Noto Serif</vt:lpstr>
      <vt:lpstr>Noto Serif Medium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sEH Inhibitor Prediction</dc:title>
  <dc:subject>PptxGenJS Presentation</dc:subject>
  <dc:creator>Your Name</dc:creator>
  <cp:lastModifiedBy>Ramana Maharshi</cp:lastModifiedBy>
  <cp:revision>8</cp:revision>
  <dcterms:created xsi:type="dcterms:W3CDTF">2026-01-31T00:39:37Z</dcterms:created>
  <dcterms:modified xsi:type="dcterms:W3CDTF">2026-03-06T08:13:39Z</dcterms:modified>
</cp:coreProperties>
</file>